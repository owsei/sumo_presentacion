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73" r:id="rId3"/>
    <p:sldId id="257" r:id="rId4"/>
    <p:sldId id="274" r:id="rId5"/>
    <p:sldId id="258" r:id="rId6"/>
    <p:sldId id="263" r:id="rId7"/>
    <p:sldId id="259" r:id="rId8"/>
    <p:sldId id="260" r:id="rId9"/>
    <p:sldId id="264" r:id="rId10"/>
    <p:sldId id="270" r:id="rId11"/>
    <p:sldId id="265" r:id="rId12"/>
    <p:sldId id="271" r:id="rId13"/>
    <p:sldId id="261" r:id="rId14"/>
    <p:sldId id="262" r:id="rId15"/>
    <p:sldId id="27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DE6"/>
    <a:srgbClr val="2A9D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0233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990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2808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744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5748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212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umo.dlr.de/docs/Downloads.php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overpass-api.de/api/map?bbox=-1.70,42.77,-1.59,42.85" TargetMode="External"/><Relationship Id="rId4" Type="http://schemas.openxmlformats.org/officeDocument/2006/relationships/hyperlink" Target="https://sumo.dlr.de/docs/Tutorials/OSMWebWizard.html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0080" y="2194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9AD9D0"/>
                </a:solidFill>
              </a:rPr>
              <a:t>Simulation of Urban MObility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Introducción a la simulación de tráfico · Aspectos básicos</a:t>
            </a:r>
            <a:endParaRPr lang="en-US" sz="180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E65C611-686E-65F9-F336-04C382B48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902400"/>
            <a:ext cx="3731029" cy="1276651"/>
          </a:xfrm>
          <a:prstGeom prst="rect">
            <a:avLst/>
          </a:prstGeom>
          <a:solidFill>
            <a:schemeClr val="bg1"/>
          </a:solidFill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2">
            <a:extLst>
              <a:ext uri="{FF2B5EF4-FFF2-40B4-BE49-F238E27FC236}">
                <a16:creationId xmlns:a16="http://schemas.microsoft.com/office/drawing/2014/main" id="{9BFD4871-32C4-157A-97AB-715CF454C526}"/>
              </a:ext>
            </a:extLst>
          </p:cNvPr>
          <p:cNvSpPr/>
          <p:nvPr/>
        </p:nvSpPr>
        <p:spPr>
          <a:xfrm>
            <a:off x="352698" y="930748"/>
            <a:ext cx="8438604" cy="3768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  <p:txBody>
          <a:bodyPr/>
          <a:lstStyle/>
          <a:p>
            <a:pPr marL="342900" indent="-342900">
              <a:buSzPct val="100000"/>
              <a:buFontTx/>
              <a:buChar char="•"/>
            </a:pPr>
            <a:endParaRPr lang="en-US" sz="1800" dirty="0">
              <a:solidFill>
                <a:srgbClr val="4A5568"/>
              </a:solidFill>
            </a:endParaRPr>
          </a:p>
          <a:p>
            <a:pPr marL="342900" indent="-342900">
              <a:buSzPct val="100000"/>
              <a:buFontTx/>
              <a:buChar char="•"/>
            </a:pPr>
            <a:r>
              <a:rPr lang="en-US" sz="1800" dirty="0">
                <a:solidFill>
                  <a:srgbClr val="4A5568"/>
                </a:solidFill>
              </a:rPr>
              <a:t>¿Que es SUMO?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n-US" sz="1800" dirty="0" err="1">
                <a:solidFill>
                  <a:srgbClr val="4A5568"/>
                </a:solidFill>
              </a:rPr>
              <a:t>Instalación</a:t>
            </a:r>
            <a:endParaRPr lang="en-US" sz="1800" dirty="0">
              <a:solidFill>
                <a:srgbClr val="4A5568"/>
              </a:solidFill>
            </a:endParaRPr>
          </a:p>
          <a:p>
            <a:pPr marL="342900" indent="-342900">
              <a:buSzPct val="100000"/>
              <a:buFontTx/>
              <a:buChar char="•"/>
            </a:pPr>
            <a:r>
              <a:rPr lang="en-US" sz="1800" dirty="0" err="1">
                <a:solidFill>
                  <a:srgbClr val="4A5568"/>
                </a:solidFill>
              </a:rPr>
              <a:t>Tipos</a:t>
            </a:r>
            <a:r>
              <a:rPr lang="en-US" sz="1800" dirty="0">
                <a:solidFill>
                  <a:srgbClr val="4A5568"/>
                </a:solidFill>
              </a:rPr>
              <a:t> de </a:t>
            </a:r>
            <a:r>
              <a:rPr lang="en-US" sz="1800" dirty="0" err="1">
                <a:solidFill>
                  <a:srgbClr val="4A5568"/>
                </a:solidFill>
              </a:rPr>
              <a:t>enfoques</a:t>
            </a:r>
            <a:r>
              <a:rPr lang="en-US" sz="1800" dirty="0">
                <a:solidFill>
                  <a:srgbClr val="4A5568"/>
                </a:solidFill>
              </a:rPr>
              <a:t> a la hora de </a:t>
            </a:r>
            <a:r>
              <a:rPr lang="en-US" sz="1800" dirty="0" err="1">
                <a:solidFill>
                  <a:srgbClr val="4A5568"/>
                </a:solidFill>
              </a:rPr>
              <a:t>crear</a:t>
            </a:r>
            <a:r>
              <a:rPr lang="en-US" sz="1800" dirty="0">
                <a:solidFill>
                  <a:srgbClr val="4A5568"/>
                </a:solidFill>
              </a:rPr>
              <a:t> </a:t>
            </a:r>
            <a:r>
              <a:rPr lang="en-US" sz="1800" dirty="0" err="1">
                <a:solidFill>
                  <a:srgbClr val="4A5568"/>
                </a:solidFill>
              </a:rPr>
              <a:t>una</a:t>
            </a:r>
            <a:r>
              <a:rPr lang="en-US" sz="1800" dirty="0">
                <a:solidFill>
                  <a:srgbClr val="4A5568"/>
                </a:solidFill>
              </a:rPr>
              <a:t> </a:t>
            </a:r>
            <a:r>
              <a:rPr lang="en-US" sz="1800" dirty="0" err="1">
                <a:solidFill>
                  <a:srgbClr val="4A5568"/>
                </a:solidFill>
              </a:rPr>
              <a:t>simulación</a:t>
            </a:r>
            <a:endParaRPr lang="en-US" sz="1800" dirty="0">
              <a:solidFill>
                <a:srgbClr val="4A5568"/>
              </a:solidFill>
            </a:endParaRPr>
          </a:p>
          <a:p>
            <a:pPr marL="342900" indent="-342900">
              <a:buSzPct val="100000"/>
              <a:buFontTx/>
              <a:buChar char="•"/>
            </a:pPr>
            <a:r>
              <a:rPr lang="en-US" sz="1800" dirty="0" err="1">
                <a:solidFill>
                  <a:srgbClr val="4A5568"/>
                </a:solidFill>
              </a:rPr>
              <a:t>Posibles</a:t>
            </a:r>
            <a:r>
              <a:rPr lang="en-US" sz="1800" dirty="0">
                <a:solidFill>
                  <a:srgbClr val="4A5568"/>
                </a:solidFill>
              </a:rPr>
              <a:t> </a:t>
            </a:r>
            <a:r>
              <a:rPr lang="en-US" sz="1800" dirty="0" err="1">
                <a:solidFill>
                  <a:srgbClr val="4A5568"/>
                </a:solidFill>
              </a:rPr>
              <a:t>usos</a:t>
            </a:r>
            <a:r>
              <a:rPr lang="en-US" sz="1800" dirty="0">
                <a:solidFill>
                  <a:srgbClr val="4A5568"/>
                </a:solidFill>
              </a:rPr>
              <a:t> de </a:t>
            </a:r>
            <a:r>
              <a:rPr lang="en-US" sz="1800" dirty="0" err="1">
                <a:solidFill>
                  <a:srgbClr val="4A5568"/>
                </a:solidFill>
              </a:rPr>
              <a:t>los</a:t>
            </a:r>
            <a:r>
              <a:rPr lang="en-US" sz="1800" dirty="0">
                <a:solidFill>
                  <a:srgbClr val="4A5568"/>
                </a:solidFill>
              </a:rPr>
              <a:t> </a:t>
            </a:r>
            <a:r>
              <a:rPr lang="en-US" sz="1800" dirty="0" err="1">
                <a:solidFill>
                  <a:srgbClr val="4A5568"/>
                </a:solidFill>
              </a:rPr>
              <a:t>datos</a:t>
            </a:r>
            <a:r>
              <a:rPr lang="en-US" sz="1800" dirty="0">
                <a:solidFill>
                  <a:srgbClr val="4A5568"/>
                </a:solidFill>
              </a:rPr>
              <a:t> las </a:t>
            </a:r>
            <a:r>
              <a:rPr lang="en-US" sz="1800" dirty="0" err="1">
                <a:solidFill>
                  <a:srgbClr val="4A5568"/>
                </a:solidFill>
              </a:rPr>
              <a:t>simulaciones</a:t>
            </a:r>
            <a:endParaRPr lang="en-US" sz="1800" dirty="0">
              <a:solidFill>
                <a:srgbClr val="4A5568"/>
              </a:solidFill>
            </a:endParaRPr>
          </a:p>
          <a:p>
            <a:pPr marL="342900" indent="-342900">
              <a:buSzPct val="100000"/>
              <a:buFontTx/>
              <a:buChar char="•"/>
            </a:pPr>
            <a:r>
              <a:rPr lang="en-US" sz="1800" dirty="0" err="1">
                <a:solidFill>
                  <a:srgbClr val="4A5568"/>
                </a:solidFill>
              </a:rPr>
              <a:t>Herramientas</a:t>
            </a:r>
            <a:r>
              <a:rPr lang="en-US" sz="1800" dirty="0">
                <a:solidFill>
                  <a:srgbClr val="4A5568"/>
                </a:solidFill>
              </a:rPr>
              <a:t> </a:t>
            </a:r>
            <a:r>
              <a:rPr lang="en-US" sz="1800" dirty="0" err="1">
                <a:solidFill>
                  <a:srgbClr val="4A5568"/>
                </a:solidFill>
              </a:rPr>
              <a:t>principales</a:t>
            </a:r>
            <a:r>
              <a:rPr lang="en-US" sz="1800" dirty="0">
                <a:solidFill>
                  <a:srgbClr val="4A5568"/>
                </a:solidFill>
              </a:rPr>
              <a:t> de SUMO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n-US" sz="1800" dirty="0" err="1">
                <a:solidFill>
                  <a:srgbClr val="4A5568"/>
                </a:solidFill>
              </a:rPr>
              <a:t>Flujo</a:t>
            </a:r>
            <a:r>
              <a:rPr lang="en-US" sz="1800" dirty="0">
                <a:solidFill>
                  <a:srgbClr val="4A5568"/>
                </a:solidFill>
              </a:rPr>
              <a:t> de </a:t>
            </a:r>
            <a:r>
              <a:rPr lang="en-US" sz="1800" dirty="0" err="1">
                <a:solidFill>
                  <a:srgbClr val="4A5568"/>
                </a:solidFill>
              </a:rPr>
              <a:t>trabajo</a:t>
            </a:r>
            <a:r>
              <a:rPr lang="en-US" sz="1800" dirty="0">
                <a:solidFill>
                  <a:srgbClr val="4A5568"/>
                </a:solidFill>
              </a:rPr>
              <a:t> para </a:t>
            </a:r>
            <a:r>
              <a:rPr lang="en-US" sz="1800" dirty="0" err="1">
                <a:solidFill>
                  <a:srgbClr val="4A5568"/>
                </a:solidFill>
              </a:rPr>
              <a:t>crear</a:t>
            </a:r>
            <a:r>
              <a:rPr lang="en-US" sz="1800" dirty="0">
                <a:solidFill>
                  <a:srgbClr val="4A5568"/>
                </a:solidFill>
              </a:rPr>
              <a:t> </a:t>
            </a:r>
            <a:r>
              <a:rPr lang="en-US" sz="1800" dirty="0" err="1">
                <a:solidFill>
                  <a:srgbClr val="4A5568"/>
                </a:solidFill>
              </a:rPr>
              <a:t>una</a:t>
            </a:r>
            <a:r>
              <a:rPr lang="en-US" sz="1800" dirty="0">
                <a:solidFill>
                  <a:srgbClr val="4A5568"/>
                </a:solidFill>
              </a:rPr>
              <a:t> </a:t>
            </a:r>
            <a:r>
              <a:rPr lang="en-US" sz="1800" dirty="0" err="1">
                <a:solidFill>
                  <a:srgbClr val="4A5568"/>
                </a:solidFill>
              </a:rPr>
              <a:t>simulación</a:t>
            </a:r>
            <a:endParaRPr lang="en-US" sz="1800" dirty="0">
              <a:solidFill>
                <a:srgbClr val="4A5568"/>
              </a:solidFill>
            </a:endParaRPr>
          </a:p>
          <a:p>
            <a:pPr marL="342900" indent="-342900">
              <a:buSzPct val="100000"/>
              <a:buFontTx/>
              <a:buChar char="•"/>
            </a:pPr>
            <a:r>
              <a:rPr lang="en-US" sz="1800" dirty="0" err="1">
                <a:solidFill>
                  <a:srgbClr val="4A5568"/>
                </a:solidFill>
              </a:rPr>
              <a:t>Creación</a:t>
            </a:r>
            <a:r>
              <a:rPr lang="en-US" sz="1800" dirty="0">
                <a:solidFill>
                  <a:srgbClr val="4A5568"/>
                </a:solidFill>
              </a:rPr>
              <a:t> de </a:t>
            </a:r>
            <a:r>
              <a:rPr lang="en-US" sz="1800" dirty="0" err="1">
                <a:solidFill>
                  <a:srgbClr val="4A5568"/>
                </a:solidFill>
              </a:rPr>
              <a:t>una</a:t>
            </a:r>
            <a:r>
              <a:rPr lang="en-US" sz="1800" dirty="0">
                <a:solidFill>
                  <a:srgbClr val="4A5568"/>
                </a:solidFill>
              </a:rPr>
              <a:t> </a:t>
            </a:r>
            <a:r>
              <a:rPr lang="en-US" sz="1800" dirty="0" err="1">
                <a:solidFill>
                  <a:srgbClr val="4A5568"/>
                </a:solidFill>
              </a:rPr>
              <a:t>simulación</a:t>
            </a:r>
            <a:r>
              <a:rPr lang="en-US" sz="1800" dirty="0">
                <a:solidFill>
                  <a:srgbClr val="4A5568"/>
                </a:solidFill>
              </a:rPr>
              <a:t> </a:t>
            </a:r>
            <a:r>
              <a:rPr lang="en-US" sz="1800" dirty="0" err="1">
                <a:solidFill>
                  <a:srgbClr val="4A5568"/>
                </a:solidFill>
              </a:rPr>
              <a:t>básica</a:t>
            </a:r>
            <a:endParaRPr lang="en-US" sz="1800" dirty="0">
              <a:solidFill>
                <a:srgbClr val="4A5568"/>
              </a:solidFill>
            </a:endParaRPr>
          </a:p>
          <a:p>
            <a:pPr marL="342900" indent="-342900">
              <a:buSzPct val="100000"/>
              <a:buFontTx/>
              <a:buChar char="•"/>
            </a:pPr>
            <a:endParaRPr lang="en-US" sz="1800" dirty="0">
              <a:solidFill>
                <a:srgbClr val="4A5568"/>
              </a:solidFill>
            </a:endParaRPr>
          </a:p>
          <a:p>
            <a:endParaRPr lang="es-ES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0CACF3D5-DC25-997F-A3BE-F37B7EFF97A0}"/>
              </a:ext>
            </a:extLst>
          </p:cNvPr>
          <p:cNvSpPr/>
          <p:nvPr/>
        </p:nvSpPr>
        <p:spPr>
          <a:xfrm>
            <a:off x="352698" y="930748"/>
            <a:ext cx="8438604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</a:rPr>
              <a:t>Presentación</a:t>
            </a:r>
            <a:endParaRPr lang="en-US" sz="26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1F00D33-49E3-7C35-E60E-6467A4CABF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</p:spTree>
    <p:extLst>
      <p:ext uri="{BB962C8B-B14F-4D97-AF65-F5344CB8AC3E}">
        <p14:creationId xmlns:p14="http://schemas.microsoft.com/office/powerpoint/2010/main" val="4095293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¿Qué es SUMO?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16182"/>
            <a:ext cx="8288383" cy="3131127"/>
          </a:xfrm>
          <a:prstGeom prst="rect">
            <a:avLst/>
          </a:prstGeom>
          <a:noFill/>
          <a:ln w="12700">
            <a:solidFill>
              <a:srgbClr val="D5DDE6"/>
            </a:solidFill>
          </a:ln>
        </p:spPr>
        <p:txBody>
          <a:bodyPr wrap="square" rtlCol="0" anchor="t"/>
          <a:lstStyle/>
          <a:p>
            <a:pPr marL="342900" indent="-342900">
              <a:buSzPct val="100000"/>
              <a:buFontTx/>
              <a:buChar char="•"/>
            </a:pPr>
            <a:r>
              <a:rPr lang="en-US" sz="2000" dirty="0">
                <a:solidFill>
                  <a:srgbClr val="4A5568"/>
                </a:solidFill>
              </a:rPr>
              <a:t>SUMO(</a:t>
            </a:r>
            <a:r>
              <a:rPr lang="en-US" sz="2000" b="1" dirty="0">
                <a:solidFill>
                  <a:srgbClr val="4A5568"/>
                </a:solidFill>
              </a:rPr>
              <a:t>S</a:t>
            </a:r>
            <a:r>
              <a:rPr lang="en-US" sz="2000" dirty="0">
                <a:solidFill>
                  <a:srgbClr val="4A5568"/>
                </a:solidFill>
              </a:rPr>
              <a:t>imulation of </a:t>
            </a:r>
            <a:r>
              <a:rPr lang="en-US" sz="2000" b="1" dirty="0">
                <a:solidFill>
                  <a:srgbClr val="4A5568"/>
                </a:solidFill>
              </a:rPr>
              <a:t>U</a:t>
            </a:r>
            <a:r>
              <a:rPr lang="en-US" sz="2000" dirty="0">
                <a:solidFill>
                  <a:srgbClr val="4A5568"/>
                </a:solidFill>
              </a:rPr>
              <a:t>rban </a:t>
            </a:r>
            <a:r>
              <a:rPr lang="en-US" sz="2000" b="1" dirty="0">
                <a:solidFill>
                  <a:srgbClr val="4A5568"/>
                </a:solidFill>
              </a:rPr>
              <a:t>Mo</a:t>
            </a:r>
            <a:r>
              <a:rPr lang="en-US" sz="2000" dirty="0">
                <a:solidFill>
                  <a:srgbClr val="4A5568"/>
                </a:solidFill>
              </a:rPr>
              <a:t>bility) es un conjuntos de </a:t>
            </a:r>
            <a:r>
              <a:rPr lang="en-US" sz="2000" dirty="0" err="1">
                <a:solidFill>
                  <a:srgbClr val="4A5568"/>
                </a:solidFill>
              </a:rPr>
              <a:t>aplicaciones</a:t>
            </a:r>
            <a:r>
              <a:rPr lang="en-US" sz="2000" dirty="0">
                <a:solidFill>
                  <a:srgbClr val="4A5568"/>
                </a:solidFill>
              </a:rPr>
              <a:t> para la </a:t>
            </a:r>
            <a:r>
              <a:rPr lang="en-US" sz="2000" dirty="0" err="1">
                <a:solidFill>
                  <a:srgbClr val="4A5568"/>
                </a:solidFill>
              </a:rPr>
              <a:t>creación</a:t>
            </a:r>
            <a:r>
              <a:rPr lang="en-US" sz="2000" dirty="0">
                <a:solidFill>
                  <a:srgbClr val="4A5568"/>
                </a:solidFill>
              </a:rPr>
              <a:t> de </a:t>
            </a:r>
            <a:r>
              <a:rPr lang="en-US" sz="2000" dirty="0" err="1">
                <a:solidFill>
                  <a:srgbClr val="4A5568"/>
                </a:solidFill>
              </a:rPr>
              <a:t>simulaciones</a:t>
            </a:r>
            <a:r>
              <a:rPr lang="en-US" sz="2000" dirty="0">
                <a:solidFill>
                  <a:srgbClr val="4A5568"/>
                </a:solidFill>
              </a:rPr>
              <a:t> </a:t>
            </a:r>
            <a:r>
              <a:rPr lang="en-US" sz="2000" dirty="0" err="1">
                <a:solidFill>
                  <a:srgbClr val="4A5568"/>
                </a:solidFill>
              </a:rPr>
              <a:t>tráfico</a:t>
            </a:r>
            <a:endParaRPr lang="en-US" sz="2000" dirty="0">
              <a:solidFill>
                <a:srgbClr val="4A5568"/>
              </a:solidFill>
            </a:endParaRPr>
          </a:p>
          <a:p>
            <a:pPr marL="342900" indent="-342900">
              <a:buSzPct val="100000"/>
              <a:buFontTx/>
              <a:buChar char="•"/>
            </a:pPr>
            <a:r>
              <a:rPr lang="en-US" sz="2000" dirty="0" err="1">
                <a:solidFill>
                  <a:srgbClr val="4A5568"/>
                </a:solidFill>
              </a:rPr>
              <a:t>Desarrollado</a:t>
            </a:r>
            <a:r>
              <a:rPr lang="en-US" sz="2000" dirty="0">
                <a:solidFill>
                  <a:srgbClr val="4A5568"/>
                </a:solidFill>
              </a:rPr>
              <a:t> </a:t>
            </a:r>
            <a:r>
              <a:rPr lang="en-US" sz="2000" dirty="0" err="1">
                <a:solidFill>
                  <a:srgbClr val="4A5568"/>
                </a:solidFill>
              </a:rPr>
              <a:t>por</a:t>
            </a:r>
            <a:r>
              <a:rPr lang="en-US" sz="2000" dirty="0">
                <a:solidFill>
                  <a:srgbClr val="4A5568"/>
                </a:solidFill>
              </a:rPr>
              <a:t> </a:t>
            </a:r>
            <a:r>
              <a:rPr lang="en-US" sz="2000" dirty="0" err="1">
                <a:solidFill>
                  <a:srgbClr val="4A5568"/>
                </a:solidFill>
              </a:rPr>
              <a:t>el</a:t>
            </a:r>
            <a:r>
              <a:rPr lang="en-US" sz="2000" dirty="0">
                <a:solidFill>
                  <a:srgbClr val="4A5568"/>
                </a:solidFill>
              </a:rPr>
              <a:t> DLR, </a:t>
            </a:r>
            <a:r>
              <a:rPr lang="en-US" sz="2000" dirty="0" err="1">
                <a:solidFill>
                  <a:srgbClr val="4A5568"/>
                </a:solidFill>
              </a:rPr>
              <a:t>el</a:t>
            </a:r>
            <a:r>
              <a:rPr lang="en-US" sz="2000" dirty="0">
                <a:solidFill>
                  <a:srgbClr val="4A5568"/>
                </a:solidFill>
              </a:rPr>
              <a:t> </a:t>
            </a:r>
            <a:r>
              <a:rPr lang="en-US" sz="2000" dirty="0" err="1">
                <a:solidFill>
                  <a:srgbClr val="4A5568"/>
                </a:solidFill>
              </a:rPr>
              <a:t>centro</a:t>
            </a:r>
            <a:r>
              <a:rPr lang="en-US" sz="2000" dirty="0">
                <a:solidFill>
                  <a:srgbClr val="4A5568"/>
                </a:solidFill>
              </a:rPr>
              <a:t> </a:t>
            </a:r>
            <a:r>
              <a:rPr lang="en-US" sz="2000" dirty="0" err="1">
                <a:solidFill>
                  <a:srgbClr val="4A5568"/>
                </a:solidFill>
              </a:rPr>
              <a:t>aeroespacial</a:t>
            </a:r>
            <a:r>
              <a:rPr lang="en-US" sz="2000" dirty="0">
                <a:solidFill>
                  <a:srgbClr val="4A5568"/>
                </a:solidFill>
              </a:rPr>
              <a:t> </a:t>
            </a:r>
            <a:r>
              <a:rPr lang="en-US" sz="2000" dirty="0" err="1">
                <a:solidFill>
                  <a:srgbClr val="4A5568"/>
                </a:solidFill>
              </a:rPr>
              <a:t>alemán</a:t>
            </a:r>
            <a:endParaRPr lang="en-US" sz="2000" dirty="0">
              <a:solidFill>
                <a:srgbClr val="4A5568"/>
              </a:solidFill>
            </a:endParaRPr>
          </a:p>
          <a:p>
            <a:pPr marL="342900" indent="-342900">
              <a:buSzPct val="100000"/>
              <a:buFontTx/>
              <a:buChar char="•"/>
            </a:pPr>
            <a:r>
              <a:rPr lang="en-US" sz="2000" dirty="0" err="1">
                <a:solidFill>
                  <a:srgbClr val="4A5568"/>
                </a:solidFill>
              </a:rPr>
              <a:t>Pertenece</a:t>
            </a:r>
            <a:r>
              <a:rPr lang="en-US" sz="2000" dirty="0">
                <a:solidFill>
                  <a:srgbClr val="4A5568"/>
                </a:solidFill>
              </a:rPr>
              <a:t> a la </a:t>
            </a:r>
            <a:r>
              <a:rPr lang="en-US" sz="2000" dirty="0" err="1">
                <a:solidFill>
                  <a:srgbClr val="4A5568"/>
                </a:solidFill>
              </a:rPr>
              <a:t>fundacion</a:t>
            </a:r>
            <a:r>
              <a:rPr lang="en-US" sz="2000" dirty="0">
                <a:solidFill>
                  <a:srgbClr val="4A5568"/>
                </a:solidFill>
              </a:rPr>
              <a:t> Eclipse</a:t>
            </a:r>
          </a:p>
          <a:p>
            <a:pPr marL="342900" indent="-342900">
              <a:buSzPct val="100000"/>
              <a:buChar char="•"/>
            </a:pPr>
            <a:r>
              <a:rPr lang="en-US" sz="2000" dirty="0" err="1">
                <a:solidFill>
                  <a:srgbClr val="4A5568"/>
                </a:solidFill>
              </a:rPr>
              <a:t>Simulador</a:t>
            </a:r>
            <a:r>
              <a:rPr lang="en-US" sz="2000" dirty="0">
                <a:solidFill>
                  <a:srgbClr val="4A5568"/>
                </a:solidFill>
              </a:rPr>
              <a:t> de tráfico de código abierto (licencia EPL)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n-US" sz="2000" dirty="0" err="1">
                <a:solidFill>
                  <a:srgbClr val="4A5568"/>
                </a:solidFill>
              </a:rPr>
              <a:t>Multiplataforma</a:t>
            </a:r>
            <a:r>
              <a:rPr lang="en-US" sz="2000" dirty="0">
                <a:solidFill>
                  <a:srgbClr val="4A5568"/>
                </a:solidFill>
              </a:rPr>
              <a:t>: </a:t>
            </a:r>
            <a:r>
              <a:rPr lang="en-US" sz="2000" dirty="0" err="1">
                <a:solidFill>
                  <a:srgbClr val="4A5568"/>
                </a:solidFill>
              </a:rPr>
              <a:t>Funciona</a:t>
            </a:r>
            <a:r>
              <a:rPr lang="en-US" sz="2000" dirty="0">
                <a:solidFill>
                  <a:srgbClr val="4A5568"/>
                </a:solidFill>
              </a:rPr>
              <a:t> </a:t>
            </a:r>
            <a:r>
              <a:rPr lang="en-US" sz="2000" dirty="0" err="1">
                <a:solidFill>
                  <a:srgbClr val="4A5568"/>
                </a:solidFill>
              </a:rPr>
              <a:t>en</a:t>
            </a:r>
            <a:r>
              <a:rPr lang="en-US" sz="2000" dirty="0">
                <a:solidFill>
                  <a:srgbClr val="4A5568"/>
                </a:solidFill>
              </a:rPr>
              <a:t> Windows, Linux y macOS</a:t>
            </a:r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4A5568"/>
                </a:solidFill>
              </a:rPr>
              <a:t>Multimodal: coches, </a:t>
            </a:r>
            <a:r>
              <a:rPr lang="en-US" sz="2000" dirty="0" err="1">
                <a:solidFill>
                  <a:srgbClr val="4A5568"/>
                </a:solidFill>
              </a:rPr>
              <a:t>autobuses,motocicletas,bicicletas</a:t>
            </a:r>
            <a:r>
              <a:rPr lang="en-US" sz="2000" dirty="0">
                <a:solidFill>
                  <a:srgbClr val="4A5568"/>
                </a:solidFill>
              </a:rPr>
              <a:t>, peatones, </a:t>
            </a:r>
            <a:r>
              <a:rPr lang="en-US" sz="2000" dirty="0" err="1">
                <a:solidFill>
                  <a:srgbClr val="4A5568"/>
                </a:solidFill>
              </a:rPr>
              <a:t>tranvías</a:t>
            </a:r>
            <a:r>
              <a:rPr lang="en-US" sz="2000" dirty="0">
                <a:solidFill>
                  <a:srgbClr val="4A5568"/>
                </a:solidFill>
              </a:rPr>
              <a:t>, </a:t>
            </a:r>
            <a:r>
              <a:rPr lang="en-US" sz="2000" dirty="0" err="1">
                <a:solidFill>
                  <a:srgbClr val="4A5568"/>
                </a:solidFill>
              </a:rPr>
              <a:t>trenes</a:t>
            </a:r>
            <a:endParaRPr lang="en-US" sz="2000" dirty="0">
              <a:solidFill>
                <a:srgbClr val="4A5568"/>
              </a:solidFill>
            </a:endParaRPr>
          </a:p>
          <a:p>
            <a:pPr marL="342900" indent="-342900">
              <a:buSzPct val="100000"/>
              <a:buChar char="•"/>
            </a:pPr>
            <a:endParaRPr lang="en-US" sz="2000" dirty="0">
              <a:solidFill>
                <a:srgbClr val="4A5568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2000" dirty="0" err="1">
                <a:solidFill>
                  <a:srgbClr val="4A5568"/>
                </a:solidFill>
              </a:rPr>
              <a:t>Artesanal</a:t>
            </a:r>
            <a:r>
              <a:rPr lang="en-US" sz="2000" dirty="0">
                <a:solidFill>
                  <a:srgbClr val="4A5568"/>
                </a:solidFill>
              </a:rPr>
              <a:t>: </a:t>
            </a:r>
            <a:r>
              <a:rPr lang="en-US" sz="2000" dirty="0" err="1">
                <a:solidFill>
                  <a:srgbClr val="4A5568"/>
                </a:solidFill>
              </a:rPr>
              <a:t>Existe</a:t>
            </a:r>
            <a:r>
              <a:rPr lang="en-US" sz="2000" dirty="0">
                <a:solidFill>
                  <a:srgbClr val="4A5568"/>
                </a:solidFill>
              </a:rPr>
              <a:t> </a:t>
            </a:r>
            <a:r>
              <a:rPr lang="en-US" sz="2000" dirty="0" err="1">
                <a:solidFill>
                  <a:srgbClr val="4A5568"/>
                </a:solidFill>
              </a:rPr>
              <a:t>una</a:t>
            </a:r>
            <a:r>
              <a:rPr lang="en-US" sz="2000" dirty="0">
                <a:solidFill>
                  <a:srgbClr val="4A5568"/>
                </a:solidFill>
              </a:rPr>
              <a:t> suite de </a:t>
            </a:r>
            <a:r>
              <a:rPr lang="en-US" sz="2000" dirty="0" err="1">
                <a:solidFill>
                  <a:srgbClr val="4A5568"/>
                </a:solidFill>
              </a:rPr>
              <a:t>aplicaciones</a:t>
            </a:r>
            <a:r>
              <a:rPr lang="en-US" sz="2000" dirty="0">
                <a:solidFill>
                  <a:srgbClr val="4A5568"/>
                </a:solidFill>
              </a:rPr>
              <a:t> </a:t>
            </a:r>
            <a:r>
              <a:rPr lang="en-US" sz="2000" dirty="0" err="1">
                <a:solidFill>
                  <a:srgbClr val="4A5568"/>
                </a:solidFill>
              </a:rPr>
              <a:t>pero</a:t>
            </a:r>
            <a:r>
              <a:rPr lang="en-US" sz="2000" dirty="0">
                <a:solidFill>
                  <a:srgbClr val="4A5568"/>
                </a:solidFill>
              </a:rPr>
              <a:t> </a:t>
            </a:r>
            <a:r>
              <a:rPr lang="en-US" sz="2000" dirty="0" err="1">
                <a:solidFill>
                  <a:srgbClr val="4A5568"/>
                </a:solidFill>
              </a:rPr>
              <a:t>mejor</a:t>
            </a:r>
            <a:r>
              <a:rPr lang="en-US" sz="2000" dirty="0">
                <a:solidFill>
                  <a:srgbClr val="4A5568"/>
                </a:solidFill>
              </a:rPr>
              <a:t> con </a:t>
            </a:r>
            <a:r>
              <a:rPr lang="en-US" sz="2000" dirty="0" err="1">
                <a:solidFill>
                  <a:srgbClr val="4A5568"/>
                </a:solidFill>
              </a:rPr>
              <a:t>comandos</a:t>
            </a:r>
            <a:endParaRPr lang="en-U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1F00D33-49E3-7C35-E60E-6467A4CABF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6F2ED991-B80A-01B0-70C0-BBC258F9BDF7}"/>
              </a:ext>
            </a:extLst>
          </p:cNvPr>
          <p:cNvSpPr/>
          <p:nvPr/>
        </p:nvSpPr>
        <p:spPr>
          <a:xfrm>
            <a:off x="461357" y="1225508"/>
            <a:ext cx="8288383" cy="86934"/>
          </a:xfrm>
          <a:prstGeom prst="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</a:rPr>
              <a:t>Instalación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19" y="914400"/>
            <a:ext cx="8288383" cy="3905794"/>
          </a:xfrm>
          <a:prstGeom prst="rect">
            <a:avLst/>
          </a:prstGeom>
          <a:noFill/>
          <a:ln w="12700">
            <a:solidFill>
              <a:srgbClr val="D5DDE6"/>
            </a:solidFill>
          </a:ln>
        </p:spPr>
        <p:txBody>
          <a:bodyPr wrap="square" rtlCol="0" anchor="t"/>
          <a:lstStyle/>
          <a:p>
            <a:pPr marL="342900" indent="-342900">
              <a:buSzPct val="100000"/>
              <a:buFontTx/>
              <a:buChar char="•"/>
            </a:pPr>
            <a:r>
              <a:rPr lang="es-ES" sz="2000" dirty="0">
                <a:solidFill>
                  <a:srgbClr val="4A5568"/>
                </a:solidFill>
              </a:rPr>
              <a:t>Ruta de instalación</a:t>
            </a:r>
          </a:p>
          <a:p>
            <a:pPr marL="800100" lvl="1" indent="-342900">
              <a:buSzPct val="100000"/>
              <a:buFontTx/>
              <a:buChar char="•"/>
            </a:pPr>
            <a:r>
              <a:rPr lang="en-US" sz="2000" dirty="0">
                <a:hlinkClick r:id="rId3"/>
              </a:rPr>
              <a:t>https://sumo.dlr.de/docs/Downloads.php</a:t>
            </a:r>
            <a:endParaRPr lang="en-US" sz="2000" dirty="0"/>
          </a:p>
          <a:p>
            <a:pPr marL="342900" indent="-342900">
              <a:buSzPct val="100000"/>
              <a:buFontTx/>
              <a:buChar char="•"/>
            </a:pPr>
            <a:endParaRPr lang="en-US" sz="2000" dirty="0"/>
          </a:p>
          <a:p>
            <a:pPr marL="342900" indent="-342900">
              <a:buSzPct val="100000"/>
              <a:buFontTx/>
              <a:buChar char="•"/>
            </a:pPr>
            <a:r>
              <a:rPr lang="en-US" sz="2000" dirty="0"/>
              <a:t>Windows</a:t>
            </a:r>
          </a:p>
          <a:p>
            <a:pPr marL="800100" lvl="1" indent="-342900">
              <a:buSzPct val="100000"/>
              <a:buFontTx/>
              <a:buChar char="•"/>
            </a:pPr>
            <a:r>
              <a:rPr lang="en-US" sz="2000" dirty="0" err="1"/>
              <a:t>Instalador</a:t>
            </a:r>
            <a:r>
              <a:rPr lang="en-US" sz="2000" dirty="0"/>
              <a:t> </a:t>
            </a:r>
            <a:r>
              <a:rPr lang="en-US" sz="2000" dirty="0" err="1"/>
              <a:t>msi</a:t>
            </a:r>
            <a:endParaRPr lang="en-US" sz="2000" dirty="0"/>
          </a:p>
          <a:p>
            <a:pPr marL="800100" lvl="1" indent="-342900">
              <a:buSzPct val="100000"/>
              <a:buFontTx/>
              <a:buChar char="•"/>
            </a:pPr>
            <a:r>
              <a:rPr lang="en-US" sz="2000" dirty="0"/>
              <a:t>Zip:</a:t>
            </a:r>
          </a:p>
          <a:p>
            <a:pPr marL="1257300" lvl="2" indent="-342900">
              <a:buSzPct val="100000"/>
              <a:buFontTx/>
              <a:buChar char="•"/>
            </a:pPr>
            <a:r>
              <a:rPr lang="en-US" sz="2000" dirty="0" err="1"/>
              <a:t>Descomprimir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un </a:t>
            </a:r>
            <a:r>
              <a:rPr lang="en-US" sz="2000" dirty="0" err="1"/>
              <a:t>ruta</a:t>
            </a:r>
            <a:r>
              <a:rPr lang="en-US" sz="2000" dirty="0"/>
              <a:t> </a:t>
            </a:r>
          </a:p>
          <a:p>
            <a:pPr marL="1257300" lvl="2" indent="-342900">
              <a:buSzPct val="100000"/>
              <a:buFontTx/>
              <a:buChar char="•"/>
            </a:pPr>
            <a:r>
              <a:rPr lang="es-ES" sz="2000" dirty="0"/>
              <a:t>SUMO_HOME=C:\Proyectos\01_SUMO\sumo-1.28.0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sz="2000" dirty="0"/>
              <a:t>Linux</a:t>
            </a:r>
          </a:p>
          <a:p>
            <a:pPr marL="800100" lvl="1" indent="-342900">
              <a:buSzPct val="100000"/>
              <a:buFontTx/>
              <a:buChar char="•"/>
            </a:pPr>
            <a:r>
              <a:rPr lang="es-ES" sz="2000" b="0" i="0" dirty="0">
                <a:effectLst/>
                <a:latin typeface="SFMono-Regular"/>
              </a:rPr>
              <a:t>sudo </a:t>
            </a:r>
            <a:r>
              <a:rPr lang="es-ES" sz="2000" b="0" i="0" dirty="0" err="1">
                <a:effectLst/>
                <a:latin typeface="SFMono-Regular"/>
              </a:rPr>
              <a:t>add-apt-repository</a:t>
            </a:r>
            <a:r>
              <a:rPr lang="es-ES" sz="2000" b="0" i="0" dirty="0">
                <a:effectLst/>
                <a:latin typeface="SFMono-Regular"/>
              </a:rPr>
              <a:t> </a:t>
            </a:r>
            <a:r>
              <a:rPr lang="es-ES" sz="2000" b="0" i="0" dirty="0" err="1">
                <a:effectLst/>
                <a:latin typeface="SFMono-Regular"/>
              </a:rPr>
              <a:t>ppa:sumo</a:t>
            </a:r>
            <a:r>
              <a:rPr lang="es-ES" sz="2000" b="0" i="0" dirty="0">
                <a:effectLst/>
                <a:latin typeface="SFMono-Regular"/>
              </a:rPr>
              <a:t>/</a:t>
            </a:r>
            <a:r>
              <a:rPr lang="es-ES" sz="2000" b="0" i="0" dirty="0" err="1">
                <a:effectLst/>
                <a:latin typeface="SFMono-Regular"/>
              </a:rPr>
              <a:t>stable</a:t>
            </a:r>
            <a:r>
              <a:rPr lang="es-ES" sz="2000" b="0" i="0" dirty="0">
                <a:effectLst/>
                <a:latin typeface="SFMono-Regular"/>
              </a:rPr>
              <a:t> </a:t>
            </a:r>
          </a:p>
          <a:p>
            <a:pPr marL="800100" lvl="1" indent="-342900">
              <a:buSzPct val="100000"/>
              <a:buFontTx/>
              <a:buChar char="•"/>
            </a:pPr>
            <a:r>
              <a:rPr lang="es-ES" sz="2000" b="0" i="0" dirty="0">
                <a:effectLst/>
                <a:latin typeface="SFMono-Regular"/>
              </a:rPr>
              <a:t>sudo </a:t>
            </a:r>
            <a:r>
              <a:rPr lang="es-ES" sz="2000" b="0" i="0" dirty="0" err="1">
                <a:effectLst/>
                <a:latin typeface="SFMono-Regular"/>
              </a:rPr>
              <a:t>apt-get</a:t>
            </a:r>
            <a:r>
              <a:rPr lang="es-ES" sz="2000" b="0" i="0" dirty="0">
                <a:effectLst/>
                <a:latin typeface="SFMono-Regular"/>
              </a:rPr>
              <a:t> </a:t>
            </a:r>
            <a:r>
              <a:rPr lang="es-ES" sz="2000" b="0" i="0" dirty="0" err="1">
                <a:effectLst/>
                <a:latin typeface="SFMono-Regular"/>
              </a:rPr>
              <a:t>update</a:t>
            </a:r>
            <a:r>
              <a:rPr lang="es-ES" sz="2000" b="0" i="0" dirty="0">
                <a:effectLst/>
                <a:latin typeface="SFMono-Regular"/>
              </a:rPr>
              <a:t> sudo </a:t>
            </a:r>
          </a:p>
          <a:p>
            <a:pPr marL="800100" lvl="1" indent="-342900">
              <a:buSzPct val="100000"/>
              <a:buFontTx/>
              <a:buChar char="•"/>
            </a:pPr>
            <a:r>
              <a:rPr lang="es-ES" sz="2000" b="0" i="0" dirty="0" err="1">
                <a:effectLst/>
                <a:latin typeface="SFMono-Regular"/>
              </a:rPr>
              <a:t>apt-get</a:t>
            </a:r>
            <a:r>
              <a:rPr lang="es-ES" sz="2000" b="0" i="0" dirty="0">
                <a:effectLst/>
                <a:latin typeface="SFMono-Regular"/>
              </a:rPr>
              <a:t> </a:t>
            </a:r>
            <a:r>
              <a:rPr lang="es-ES" sz="2000" b="0" i="0" dirty="0" err="1">
                <a:effectLst/>
                <a:latin typeface="SFMono-Regular"/>
              </a:rPr>
              <a:t>install</a:t>
            </a:r>
            <a:r>
              <a:rPr lang="es-ES" sz="2000" b="0" i="0" dirty="0">
                <a:effectLst/>
                <a:latin typeface="SFMono-Regular"/>
              </a:rPr>
              <a:t> sumo sumo-</a:t>
            </a:r>
            <a:r>
              <a:rPr lang="es-ES" sz="2000" b="0" i="0" dirty="0" err="1">
                <a:effectLst/>
                <a:latin typeface="SFMono-Regular"/>
              </a:rPr>
              <a:t>tools</a:t>
            </a:r>
            <a:r>
              <a:rPr lang="es-ES" sz="2000" b="0" i="0" dirty="0">
                <a:effectLst/>
                <a:latin typeface="SFMono-Regular"/>
              </a:rPr>
              <a:t> sumo-</a:t>
            </a:r>
            <a:r>
              <a:rPr lang="es-ES" sz="2000" b="0" i="0" dirty="0" err="1">
                <a:effectLst/>
                <a:latin typeface="SFMono-Regular"/>
              </a:rPr>
              <a:t>doc</a:t>
            </a:r>
            <a:endParaRPr lang="en-U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1F00D33-49E3-7C35-E60E-6467A4CAB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7B2A0E82-D2A8-4670-C307-8504373B3F12}"/>
              </a:ext>
            </a:extLst>
          </p:cNvPr>
          <p:cNvSpPr/>
          <p:nvPr/>
        </p:nvSpPr>
        <p:spPr>
          <a:xfrm>
            <a:off x="502919" y="914401"/>
            <a:ext cx="8288383" cy="71846"/>
          </a:xfrm>
          <a:prstGeom prst="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12194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</a:rPr>
              <a:t>Tipos</a:t>
            </a:r>
            <a:r>
              <a:rPr lang="en-US" sz="2600" b="1" dirty="0">
                <a:solidFill>
                  <a:srgbClr val="FFFFFF"/>
                </a:solidFill>
              </a:rPr>
              <a:t> de </a:t>
            </a:r>
            <a:r>
              <a:rPr lang="en-US" sz="2600" b="1" dirty="0" err="1">
                <a:solidFill>
                  <a:srgbClr val="FFFFFF"/>
                </a:solidFill>
              </a:rPr>
              <a:t>enfoque</a:t>
            </a:r>
            <a:r>
              <a:rPr lang="en-US" sz="2600" b="1" dirty="0">
                <a:solidFill>
                  <a:srgbClr val="FFFFFF"/>
                </a:solidFill>
              </a:rPr>
              <a:t> para la </a:t>
            </a:r>
            <a:r>
              <a:rPr lang="en-US" sz="2600" b="1" dirty="0" err="1">
                <a:solidFill>
                  <a:srgbClr val="FFFFFF"/>
                </a:solidFill>
              </a:rPr>
              <a:t>simulación</a:t>
            </a:r>
            <a:r>
              <a:rPr lang="en-US" sz="2600" b="1" dirty="0">
                <a:solidFill>
                  <a:srgbClr val="FFFFFF"/>
                </a:solidFill>
              </a:rPr>
              <a:t> de </a:t>
            </a:r>
            <a:r>
              <a:rPr lang="en-US" sz="2600" b="1" dirty="0" err="1">
                <a:solidFill>
                  <a:srgbClr val="FFFFFF"/>
                </a:solidFill>
              </a:rPr>
              <a:t>tráfico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256032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Macroscópico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57400"/>
            <a:ext cx="2286000" cy="2828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4A5568"/>
                </a:solidFill>
              </a:rPr>
              <a:t>Trata el tráfico como un flujo continuo (densidad, caudal). Rápido, pero sin detalle por </a:t>
            </a:r>
            <a:r>
              <a:rPr lang="en-US" sz="1400" dirty="0" err="1">
                <a:solidFill>
                  <a:srgbClr val="4A5568"/>
                </a:solidFill>
              </a:rPr>
              <a:t>vehículo</a:t>
            </a:r>
            <a:r>
              <a:rPr lang="en-US" sz="1400" dirty="0">
                <a:solidFill>
                  <a:srgbClr val="4A5568"/>
                </a:solidFill>
              </a:rPr>
              <a:t>. E</a:t>
            </a:r>
            <a:r>
              <a:rPr lang="es-ES" sz="1400" dirty="0">
                <a:solidFill>
                  <a:srgbClr val="4A5568"/>
                </a:solidFill>
              </a:rPr>
              <a:t>l tráfico no se modela vehículo por vehículo, sino como un flujo continuo o entidad agregada donde las variables principales son el </a:t>
            </a:r>
            <a:r>
              <a:rPr lang="es-ES" sz="1400" b="1" dirty="0">
                <a:solidFill>
                  <a:srgbClr val="4A5568"/>
                </a:solidFill>
              </a:rPr>
              <a:t>volumen</a:t>
            </a:r>
            <a:r>
              <a:rPr lang="es-ES" sz="1400" dirty="0">
                <a:solidFill>
                  <a:srgbClr val="4A5568"/>
                </a:solidFill>
              </a:rPr>
              <a:t>, la </a:t>
            </a:r>
            <a:r>
              <a:rPr lang="es-ES" sz="1400" b="1" dirty="0">
                <a:solidFill>
                  <a:srgbClr val="4A5568"/>
                </a:solidFill>
              </a:rPr>
              <a:t>densidad </a:t>
            </a:r>
            <a:r>
              <a:rPr lang="es-ES" sz="1400" dirty="0">
                <a:solidFill>
                  <a:srgbClr val="4A5568"/>
                </a:solidFill>
              </a:rPr>
              <a:t>de la </a:t>
            </a:r>
            <a:r>
              <a:rPr lang="es-ES" sz="1400" dirty="0" err="1">
                <a:solidFill>
                  <a:srgbClr val="4A5568"/>
                </a:solidFill>
              </a:rPr>
              <a:t>via</a:t>
            </a:r>
            <a:r>
              <a:rPr lang="es-ES" sz="1400" dirty="0">
                <a:solidFill>
                  <a:srgbClr val="4A5568"/>
                </a:solidFill>
              </a:rPr>
              <a:t> y la </a:t>
            </a:r>
            <a:r>
              <a:rPr lang="es-ES" sz="1400" b="1" dirty="0">
                <a:solidFill>
                  <a:srgbClr val="4A5568"/>
                </a:solidFill>
              </a:rPr>
              <a:t>velocidad media</a:t>
            </a:r>
            <a:r>
              <a:rPr lang="es-ES" sz="1400" dirty="0">
                <a:solidFill>
                  <a:srgbClr val="4A5568"/>
                </a:solidFill>
              </a:rPr>
              <a:t>.</a:t>
            </a:r>
            <a:endParaRPr lang="en-US" sz="1400" dirty="0">
              <a:solidFill>
                <a:srgbClr val="4A5568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280160"/>
            <a:ext cx="256032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8016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280160"/>
            <a:ext cx="256032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29000" y="1463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Microscópico (SUMO)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057400"/>
            <a:ext cx="2286000" cy="2828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4A5568"/>
                </a:solidFill>
              </a:rPr>
              <a:t>Cada vehículo tiene ruta, velocidad y comportamiento propios: seguimiento y cambio de </a:t>
            </a:r>
            <a:r>
              <a:rPr lang="en-US" sz="1400" dirty="0" err="1">
                <a:solidFill>
                  <a:srgbClr val="4A5568"/>
                </a:solidFill>
              </a:rPr>
              <a:t>carril</a:t>
            </a:r>
            <a:r>
              <a:rPr lang="en-US" sz="1400" dirty="0">
                <a:solidFill>
                  <a:srgbClr val="4A5568"/>
                </a:solidFill>
              </a:rPr>
              <a:t>, </a:t>
            </a:r>
            <a:r>
              <a:rPr lang="en-US" sz="1400" dirty="0" err="1">
                <a:solidFill>
                  <a:srgbClr val="4A5568"/>
                </a:solidFill>
              </a:rPr>
              <a:t>búsqueda</a:t>
            </a:r>
            <a:r>
              <a:rPr lang="en-US" sz="1400" dirty="0">
                <a:solidFill>
                  <a:srgbClr val="4A5568"/>
                </a:solidFill>
              </a:rPr>
              <a:t> de </a:t>
            </a:r>
            <a:r>
              <a:rPr lang="en-US" sz="1400" dirty="0" err="1">
                <a:solidFill>
                  <a:srgbClr val="4A5568"/>
                </a:solidFill>
              </a:rPr>
              <a:t>rutas</a:t>
            </a:r>
            <a:r>
              <a:rPr lang="en-US" sz="1400" dirty="0">
                <a:solidFill>
                  <a:srgbClr val="4A5568"/>
                </a:solidFill>
              </a:rPr>
              <a:t> </a:t>
            </a:r>
            <a:r>
              <a:rPr lang="en-US" sz="1400" dirty="0" err="1">
                <a:solidFill>
                  <a:srgbClr val="4A5568"/>
                </a:solidFill>
              </a:rPr>
              <a:t>alternativas</a:t>
            </a:r>
            <a:r>
              <a:rPr lang="en-US" sz="1400" dirty="0">
                <a:solidFill>
                  <a:srgbClr val="4A5568"/>
                </a:solidFill>
              </a:rPr>
              <a:t> </a:t>
            </a:r>
            <a:r>
              <a:rPr lang="en-US" sz="1400" dirty="0" err="1">
                <a:solidFill>
                  <a:srgbClr val="4A5568"/>
                </a:solidFill>
              </a:rPr>
              <a:t>por</a:t>
            </a:r>
            <a:r>
              <a:rPr lang="en-US" sz="1400" dirty="0">
                <a:solidFill>
                  <a:srgbClr val="4A5568"/>
                </a:solidFill>
              </a:rPr>
              <a:t> </a:t>
            </a:r>
            <a:r>
              <a:rPr lang="en-US" sz="1400" dirty="0" err="1">
                <a:solidFill>
                  <a:srgbClr val="4A5568"/>
                </a:solidFill>
              </a:rPr>
              <a:t>atascos</a:t>
            </a:r>
            <a:r>
              <a:rPr lang="en-US" sz="1400" dirty="0">
                <a:solidFill>
                  <a:srgbClr val="4A5568"/>
                </a:solidFill>
              </a:rPr>
              <a:t> u </a:t>
            </a:r>
            <a:r>
              <a:rPr lang="en-US" sz="1400" dirty="0" err="1">
                <a:solidFill>
                  <a:srgbClr val="4A5568"/>
                </a:solidFill>
              </a:rPr>
              <a:t>otro</a:t>
            </a:r>
            <a:r>
              <a:rPr lang="en-US" sz="1400" dirty="0">
                <a:solidFill>
                  <a:srgbClr val="4A5568"/>
                </a:solidFill>
              </a:rPr>
              <a:t> </a:t>
            </a:r>
            <a:r>
              <a:rPr lang="en-US" sz="1400" dirty="0" err="1">
                <a:solidFill>
                  <a:srgbClr val="4A5568"/>
                </a:solidFill>
              </a:rPr>
              <a:t>tipo</a:t>
            </a:r>
            <a:r>
              <a:rPr lang="en-US" sz="1400" dirty="0">
                <a:solidFill>
                  <a:srgbClr val="4A5568"/>
                </a:solidFill>
              </a:rPr>
              <a:t> de </a:t>
            </a:r>
            <a:r>
              <a:rPr lang="en-US" sz="1400" dirty="0" err="1">
                <a:solidFill>
                  <a:srgbClr val="4A5568"/>
                </a:solidFill>
              </a:rPr>
              <a:t>bloqueos</a:t>
            </a:r>
            <a:r>
              <a:rPr lang="en-US" sz="1400" dirty="0">
                <a:solidFill>
                  <a:srgbClr val="4A5568"/>
                </a:solidFill>
              </a:rPr>
              <a:t> </a:t>
            </a:r>
            <a:r>
              <a:rPr lang="en-US" sz="1400" dirty="0" err="1">
                <a:solidFill>
                  <a:srgbClr val="4A5568"/>
                </a:solidFill>
              </a:rPr>
              <a:t>en</a:t>
            </a:r>
            <a:r>
              <a:rPr lang="en-US" sz="1400" dirty="0">
                <a:solidFill>
                  <a:srgbClr val="4A5568"/>
                </a:solidFill>
              </a:rPr>
              <a:t> via, </a:t>
            </a:r>
            <a:r>
              <a:rPr lang="en-US" sz="1400" dirty="0" err="1">
                <a:solidFill>
                  <a:srgbClr val="4A5568"/>
                </a:solidFill>
              </a:rPr>
              <a:t>posicionamiento</a:t>
            </a:r>
            <a:r>
              <a:rPr lang="en-US" sz="1400" dirty="0">
                <a:solidFill>
                  <a:srgbClr val="4A5568"/>
                </a:solidFill>
              </a:rPr>
              <a:t> </a:t>
            </a:r>
            <a:r>
              <a:rPr lang="en-US" sz="1400" dirty="0" err="1">
                <a:solidFill>
                  <a:srgbClr val="4A5568"/>
                </a:solidFill>
              </a:rPr>
              <a:t>segundo</a:t>
            </a:r>
            <a:r>
              <a:rPr lang="en-US" sz="1400" dirty="0">
                <a:solidFill>
                  <a:srgbClr val="4A5568"/>
                </a:solidFill>
              </a:rPr>
              <a:t> a </a:t>
            </a:r>
            <a:r>
              <a:rPr lang="en-US" sz="1400" dirty="0" err="1">
                <a:solidFill>
                  <a:srgbClr val="4A5568"/>
                </a:solidFill>
              </a:rPr>
              <a:t>segundo</a:t>
            </a:r>
            <a:r>
              <a:rPr lang="en-US" sz="1400" dirty="0">
                <a:solidFill>
                  <a:srgbClr val="4A5568"/>
                </a:solidFill>
              </a:rPr>
              <a:t> </a:t>
            </a:r>
            <a:r>
              <a:rPr lang="en-US" sz="1400" dirty="0" err="1">
                <a:solidFill>
                  <a:srgbClr val="4A5568"/>
                </a:solidFill>
              </a:rPr>
              <a:t>en</a:t>
            </a:r>
            <a:r>
              <a:rPr lang="en-US" sz="1400" dirty="0">
                <a:solidFill>
                  <a:srgbClr val="4A5568"/>
                </a:solidFill>
              </a:rPr>
              <a:t> </a:t>
            </a:r>
            <a:r>
              <a:rPr lang="en-US" sz="1400" dirty="0" err="1">
                <a:solidFill>
                  <a:srgbClr val="4A5568"/>
                </a:solidFill>
              </a:rPr>
              <a:t>mapa</a:t>
            </a:r>
            <a:r>
              <a:rPr lang="en-US" sz="1400" dirty="0">
                <a:solidFill>
                  <a:srgbClr val="4A5568"/>
                </a:solidFill>
              </a:rPr>
              <a:t>.</a:t>
            </a:r>
            <a:endParaRPr lang="en-US" sz="1400" dirty="0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9A8B28FD-E205-DDAC-A95E-F55DC97E2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  <p:sp>
        <p:nvSpPr>
          <p:cNvPr id="17" name="Text 8"/>
          <p:cNvSpPr txBox="1"/>
          <p:nvPr/>
        </p:nvSpPr>
        <p:spPr>
          <a:xfrm>
            <a:off x="6263640" y="144344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Mesoscópico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992086"/>
            <a:ext cx="2286000" cy="2383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ES" sz="1200" dirty="0">
                <a:solidFill>
                  <a:srgbClr val="4A5568"/>
                </a:solidFill>
              </a:rPr>
              <a:t>Se sitúa en la frontera entre la simulación microscópica (vehículo a vehículo con dinámicas de conducción detalladas) y la macroscópica (flujos y densidades agregadas). El simulador utiliza un enfoque basado en colas (</a:t>
            </a:r>
            <a:r>
              <a:rPr lang="es-ES" sz="1200" dirty="0" err="1">
                <a:solidFill>
                  <a:srgbClr val="4A5568"/>
                </a:solidFill>
              </a:rPr>
              <a:t>queues</a:t>
            </a:r>
            <a:r>
              <a:rPr lang="es-ES" sz="1200" dirty="0">
                <a:solidFill>
                  <a:srgbClr val="4A5568"/>
                </a:solidFill>
              </a:rPr>
              <a:t>) donde los vehículos individuales se mueven entre segmentos viales (</a:t>
            </a:r>
            <a:r>
              <a:rPr lang="es-ES" sz="1200" dirty="0" err="1">
                <a:solidFill>
                  <a:srgbClr val="4A5568"/>
                </a:solidFill>
              </a:rPr>
              <a:t>edges</a:t>
            </a:r>
            <a:r>
              <a:rPr lang="es-ES" sz="1200" dirty="0">
                <a:solidFill>
                  <a:srgbClr val="4A5568"/>
                </a:solidFill>
              </a:rPr>
              <a:t>) en lugar de calcular continuamente su aceleración y posición exacta en coordenadas espaciales continuas.</a:t>
            </a:r>
            <a:endParaRPr lang="en-US" sz="1200" dirty="0">
              <a:solidFill>
                <a:srgbClr val="4A556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</a:rPr>
              <a:t>Posibles</a:t>
            </a:r>
            <a:r>
              <a:rPr lang="en-US" sz="2600" b="1" dirty="0">
                <a:solidFill>
                  <a:srgbClr val="FFFFFF"/>
                </a:solidFill>
              </a:rPr>
              <a:t> </a:t>
            </a:r>
            <a:r>
              <a:rPr lang="en-US" sz="2600" b="1" dirty="0" err="1">
                <a:solidFill>
                  <a:srgbClr val="FFFFFF"/>
                </a:solidFill>
              </a:rPr>
              <a:t>usos</a:t>
            </a:r>
            <a:r>
              <a:rPr lang="en-US" sz="2600" b="1" dirty="0">
                <a:solidFill>
                  <a:srgbClr val="FFFFFF"/>
                </a:solidFill>
              </a:rPr>
              <a:t> de </a:t>
            </a:r>
            <a:r>
              <a:rPr lang="en-US" sz="2600" b="1" dirty="0" err="1">
                <a:solidFill>
                  <a:srgbClr val="FFFFFF"/>
                </a:solidFill>
              </a:rPr>
              <a:t>los</a:t>
            </a:r>
            <a:r>
              <a:rPr lang="en-US" sz="2600" b="1" dirty="0">
                <a:solidFill>
                  <a:srgbClr val="FFFFFF"/>
                </a:solidFill>
              </a:rPr>
              <a:t> </a:t>
            </a:r>
            <a:r>
              <a:rPr lang="en-US" sz="2600" b="1" dirty="0" err="1">
                <a:solidFill>
                  <a:srgbClr val="FFFFFF"/>
                </a:solidFill>
              </a:rPr>
              <a:t>datos</a:t>
            </a:r>
            <a:r>
              <a:rPr lang="en-US" sz="2600" b="1" dirty="0">
                <a:solidFill>
                  <a:srgbClr val="FFFFFF"/>
                </a:solidFill>
              </a:rPr>
              <a:t> de la </a:t>
            </a:r>
            <a:r>
              <a:rPr lang="en-US" sz="2600" b="1" dirty="0" err="1">
                <a:solidFill>
                  <a:srgbClr val="FFFFFF"/>
                </a:solidFill>
              </a:rPr>
              <a:t>simulación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8516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185166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15773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Semáforos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15773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Optimización y control adaptativo.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1028" y="1371600"/>
            <a:ext cx="18516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1028" y="1371600"/>
            <a:ext cx="185166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68188" y="1554480"/>
            <a:ext cx="15773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Planificación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68188" y="2148840"/>
            <a:ext cx="15773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Congestión y estudios de movilidad urbana.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04857" y="1408176"/>
            <a:ext cx="18516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04857" y="1408176"/>
            <a:ext cx="185166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42017" y="1591056"/>
            <a:ext cx="15773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Emisiones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42017" y="2185416"/>
            <a:ext cx="15773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Consumo de combustible y contaminación.</a:t>
            </a:r>
            <a:endParaRPr lang="en-US" sz="140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6E3F79FC-9F6E-521B-DEBE-ADEA18655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</a:rPr>
              <a:t>Herramientas</a:t>
            </a:r>
            <a:r>
              <a:rPr lang="en-US" sz="2600" b="1" dirty="0">
                <a:solidFill>
                  <a:srgbClr val="FFFFFF"/>
                </a:solidFill>
              </a:rPr>
              <a:t> </a:t>
            </a:r>
            <a:r>
              <a:rPr lang="en-US" sz="2600" b="1" dirty="0" err="1">
                <a:solidFill>
                  <a:srgbClr val="FFFFFF"/>
                </a:solidFill>
              </a:rPr>
              <a:t>principales</a:t>
            </a:r>
            <a:r>
              <a:rPr lang="en-US" sz="2600" b="1" dirty="0">
                <a:solidFill>
                  <a:srgbClr val="FFFFFF"/>
                </a:solidFill>
              </a:rPr>
              <a:t> de SUMO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199" y="1587137"/>
            <a:ext cx="18516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199" y="1587137"/>
            <a:ext cx="185166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59" y="1770017"/>
            <a:ext cx="15773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netconvert / netedit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59" y="2364377"/>
            <a:ext cx="15773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Crean y editan la red viaria y los semáforos. Importan desde OpenStreetMap.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83179" y="1587137"/>
            <a:ext cx="18516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83179" y="1587137"/>
            <a:ext cx="185166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20339" y="1770017"/>
            <a:ext cx="15773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randomTrips / duarouter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720339" y="2364377"/>
            <a:ext cx="15773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Generan la demanda: viajes aleatorios, flujos y rutas de los </a:t>
            </a:r>
            <a:r>
              <a:rPr lang="en-US" sz="1400" dirty="0" err="1">
                <a:solidFill>
                  <a:srgbClr val="4A5568"/>
                </a:solidFill>
              </a:rPr>
              <a:t>vehículos</a:t>
            </a:r>
            <a:r>
              <a:rPr lang="en-US" sz="1400" dirty="0">
                <a:solidFill>
                  <a:srgbClr val="4A5568"/>
                </a:solidFill>
              </a:rPr>
              <a:t>.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Para la </a:t>
            </a:r>
            <a:r>
              <a:rPr lang="en-US" sz="1400" dirty="0" err="1">
                <a:solidFill>
                  <a:srgbClr val="4A5568"/>
                </a:solidFill>
              </a:rPr>
              <a:t>busqueda</a:t>
            </a:r>
            <a:r>
              <a:rPr lang="en-US" sz="1400" dirty="0">
                <a:solidFill>
                  <a:srgbClr val="4A5568"/>
                </a:solidFill>
              </a:rPr>
              <a:t> de </a:t>
            </a:r>
            <a:r>
              <a:rPr lang="en-US" sz="1400" dirty="0" err="1">
                <a:solidFill>
                  <a:srgbClr val="4A5568"/>
                </a:solidFill>
              </a:rPr>
              <a:t>rutas</a:t>
            </a:r>
            <a:r>
              <a:rPr lang="en-US" sz="1400" dirty="0">
                <a:solidFill>
                  <a:srgbClr val="4A5568"/>
                </a:solidFill>
              </a:rPr>
              <a:t> se </a:t>
            </a:r>
            <a:r>
              <a:rPr lang="en-US" sz="1400" dirty="0" err="1">
                <a:solidFill>
                  <a:srgbClr val="4A5568"/>
                </a:solidFill>
              </a:rPr>
              <a:t>usa</a:t>
            </a:r>
            <a:r>
              <a:rPr lang="en-US" sz="1400" dirty="0">
                <a:solidFill>
                  <a:srgbClr val="4A5568"/>
                </a:solidFill>
              </a:rPr>
              <a:t> Dijkstra, </a:t>
            </a:r>
            <a:r>
              <a:rPr lang="en-US" sz="1400" dirty="0" err="1">
                <a:solidFill>
                  <a:srgbClr val="4A5568"/>
                </a:solidFill>
              </a:rPr>
              <a:t>busqueda</a:t>
            </a:r>
            <a:r>
              <a:rPr lang="en-US" sz="1400" dirty="0">
                <a:solidFill>
                  <a:srgbClr val="4A5568"/>
                </a:solidFill>
              </a:rPr>
              <a:t> de </a:t>
            </a:r>
            <a:r>
              <a:rPr lang="en-US" sz="1400" dirty="0" err="1">
                <a:solidFill>
                  <a:srgbClr val="4A5568"/>
                </a:solidFill>
              </a:rPr>
              <a:t>camino</a:t>
            </a:r>
            <a:r>
              <a:rPr lang="en-US" sz="1400" dirty="0">
                <a:solidFill>
                  <a:srgbClr val="4A5568"/>
                </a:solidFill>
              </a:rPr>
              <a:t> mas </a:t>
            </a:r>
            <a:r>
              <a:rPr lang="en-US" sz="1400" dirty="0" err="1">
                <a:solidFill>
                  <a:srgbClr val="4A5568"/>
                </a:solidFill>
              </a:rPr>
              <a:t>corto</a:t>
            </a:r>
            <a:r>
              <a:rPr lang="en-US" sz="1400" dirty="0">
                <a:solidFill>
                  <a:srgbClr val="4A5568"/>
                </a:solidFill>
              </a:rPr>
              <a:t> entre </a:t>
            </a:r>
            <a:r>
              <a:rPr lang="en-US" sz="1400" dirty="0" err="1">
                <a:solidFill>
                  <a:srgbClr val="4A5568"/>
                </a:solidFill>
              </a:rPr>
              <a:t>nodos</a:t>
            </a:r>
            <a:r>
              <a:rPr lang="en-US" sz="1400" dirty="0">
                <a:solidFill>
                  <a:srgbClr val="4A5568"/>
                </a:solidFill>
              </a:rPr>
              <a:t> de un arbol.</a:t>
            </a: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09159" y="1587137"/>
            <a:ext cx="18516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59" y="1587137"/>
            <a:ext cx="185166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19" y="1770017"/>
            <a:ext cx="15773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sumo / sumo-gui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846319" y="2364377"/>
            <a:ext cx="15773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Ejecutan la simulación, sin interfaz o con visualización gráfica.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35139" y="1587137"/>
            <a:ext cx="18516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35139" y="1587137"/>
            <a:ext cx="185166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72299" y="1770017"/>
            <a:ext cx="15773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TraCI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972299" y="2364377"/>
            <a:ext cx="15773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Interfaz para controlar la simulación en tiempo real desde Python u otros lenguajes.</a:t>
            </a:r>
            <a:endParaRPr lang="en-US" sz="1400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CCC19F24-4B0C-76C6-0993-3C716606367F}"/>
              </a:ext>
            </a:extLst>
          </p:cNvPr>
          <p:cNvSpPr txBox="1"/>
          <p:nvPr/>
        </p:nvSpPr>
        <p:spPr>
          <a:xfrm>
            <a:off x="781215" y="986592"/>
            <a:ext cx="7452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4A5568"/>
                </a:solidFill>
              </a:rPr>
              <a:t>SUMO </a:t>
            </a:r>
            <a:r>
              <a:rPr lang="en-US" sz="1800" dirty="0" err="1">
                <a:solidFill>
                  <a:srgbClr val="4A5568"/>
                </a:solidFill>
              </a:rPr>
              <a:t>tiene</a:t>
            </a:r>
            <a:r>
              <a:rPr lang="en-US" sz="1800" dirty="0">
                <a:solidFill>
                  <a:srgbClr val="4A5568"/>
                </a:solidFill>
              </a:rPr>
              <a:t> mas de 250 </a:t>
            </a:r>
            <a:r>
              <a:rPr lang="en-US" sz="1800" dirty="0" err="1">
                <a:solidFill>
                  <a:srgbClr val="4A5568"/>
                </a:solidFill>
              </a:rPr>
              <a:t>herramientas</a:t>
            </a:r>
            <a:r>
              <a:rPr lang="en-US" sz="1800" dirty="0">
                <a:solidFill>
                  <a:srgbClr val="4A5568"/>
                </a:solidFill>
              </a:rPr>
              <a:t>  para la </a:t>
            </a:r>
            <a:r>
              <a:rPr lang="en-US" sz="1800" dirty="0" err="1">
                <a:solidFill>
                  <a:srgbClr val="4A5568"/>
                </a:solidFill>
              </a:rPr>
              <a:t>generación</a:t>
            </a:r>
            <a:r>
              <a:rPr lang="en-US" sz="1800" dirty="0">
                <a:solidFill>
                  <a:srgbClr val="4A5568"/>
                </a:solidFill>
              </a:rPr>
              <a:t> de las </a:t>
            </a:r>
            <a:r>
              <a:rPr lang="en-US" sz="1800" dirty="0" err="1">
                <a:solidFill>
                  <a:srgbClr val="4A5568"/>
                </a:solidFill>
              </a:rPr>
              <a:t>simulaciones</a:t>
            </a:r>
            <a:r>
              <a:rPr lang="en-US" sz="1800" dirty="0">
                <a:solidFill>
                  <a:srgbClr val="4A5568"/>
                </a:solidFill>
              </a:rPr>
              <a:t>.</a:t>
            </a:r>
            <a:endParaRPr lang="en-US" sz="1800"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B53A690F-D055-72A6-F652-FBC3B4850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Flujo de trabajo básico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463040" cy="822960"/>
          </a:xfrm>
          <a:prstGeom prst="rect">
            <a:avLst/>
          </a:prstGeom>
          <a:solidFill>
            <a:srgbClr val="1F3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459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1. Red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06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568"/>
                </a:solidFill>
              </a:rPr>
              <a:t>OSM + netconvert o netedit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34540" y="1645920"/>
            <a:ext cx="1463040" cy="822960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34540" y="16459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2. Demanda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034540" y="2606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568"/>
                </a:solidFill>
              </a:rPr>
              <a:t>Rutas, flujos o viajes aleatorios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11880" y="1645920"/>
            <a:ext cx="1463040" cy="822960"/>
          </a:xfrm>
          <a:prstGeom prst="rect">
            <a:avLst/>
          </a:prstGeom>
          <a:solidFill>
            <a:srgbClr val="1F3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16459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3. Configuración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606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568"/>
                </a:solidFill>
              </a:rPr>
              <a:t>Archivo .sumocfg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189220" y="1645920"/>
            <a:ext cx="1463040" cy="822960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89220" y="16459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4. Simulación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189220" y="2606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568"/>
                </a:solidFill>
              </a:rPr>
              <a:t>sumo o sumo-gui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766560" y="1645920"/>
            <a:ext cx="1463040" cy="822960"/>
          </a:xfrm>
          <a:prstGeom prst="rect">
            <a:avLst/>
          </a:prstGeom>
          <a:solidFill>
            <a:srgbClr val="1F3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16459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5. Análisis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06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568"/>
                </a:solidFill>
              </a:rPr>
              <a:t>Salidas XML o TraCI</a:t>
            </a:r>
            <a:endParaRPr lang="en-US" sz="130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EF66007A-FF3E-4CC6-1BD2-AD620488FB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Caso práctico: Pamplona (Navarra)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603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256032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Objetivo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Simular el tráfico de Pamplona a partir de datos abiertos de OpenStreetMap.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5603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280160"/>
            <a:ext cx="256032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463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Zona de estudio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Casco Antiguo, Ensanches y rondas de circunvalación.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1280160"/>
            <a:ext cx="25603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280160"/>
            <a:ext cx="256032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63640" y="1463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Escenario posible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Cortar calles (por ejemplo, durante San Fermín) y ver cómo se redistribuye el tráfico.</a:t>
            </a:r>
            <a:endParaRPr lang="en-US" sz="1400" dirty="0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E2D69B0D-FB73-B537-BDAC-6C0FD2636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416D6091-5BA4-C6CF-B043-57517D672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354" y="1038497"/>
            <a:ext cx="4291891" cy="3069376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</a:rPr>
              <a:t>Creación</a:t>
            </a:r>
            <a:r>
              <a:rPr lang="en-US" sz="2600" b="1" dirty="0">
                <a:solidFill>
                  <a:srgbClr val="FFFFFF"/>
                </a:solidFill>
              </a:rPr>
              <a:t> de </a:t>
            </a:r>
            <a:r>
              <a:rPr lang="en-US" sz="2600" b="1" dirty="0" err="1">
                <a:solidFill>
                  <a:srgbClr val="FFFFFF"/>
                </a:solidFill>
              </a:rPr>
              <a:t>una</a:t>
            </a:r>
            <a:r>
              <a:rPr lang="en-US" sz="2600" b="1" dirty="0">
                <a:solidFill>
                  <a:srgbClr val="FFFFFF"/>
                </a:solidFill>
              </a:rPr>
              <a:t> red vial</a:t>
            </a:r>
            <a:endParaRPr lang="en-US" sz="26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9CB68D4-E6E3-E651-DCF0-9251A8D9F9F4}"/>
              </a:ext>
            </a:extLst>
          </p:cNvPr>
          <p:cNvSpPr txBox="1"/>
          <p:nvPr/>
        </p:nvSpPr>
        <p:spPr>
          <a:xfrm>
            <a:off x="248195" y="927463"/>
            <a:ext cx="4621678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000" dirty="0">
                <a:solidFill>
                  <a:srgbClr val="4A5568"/>
                </a:solidFill>
              </a:rPr>
              <a:t>Una red vial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000" dirty="0">
                <a:solidFill>
                  <a:srgbClr val="4A5568"/>
                </a:solidFill>
              </a:rPr>
              <a:t>Creada a mano con </a:t>
            </a:r>
            <a:r>
              <a:rPr lang="es-ES_tradnl" sz="2000" dirty="0" err="1">
                <a:solidFill>
                  <a:srgbClr val="4A5568"/>
                </a:solidFill>
              </a:rPr>
              <a:t>netedit</a:t>
            </a:r>
            <a:endParaRPr lang="es-ES_tradnl" sz="2000" dirty="0">
              <a:solidFill>
                <a:srgbClr val="4A5568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000" dirty="0">
                <a:solidFill>
                  <a:srgbClr val="4A5568"/>
                </a:solidFill>
              </a:rPr>
              <a:t>Obtenida de Open Street </a:t>
            </a:r>
            <a:r>
              <a:rPr lang="es-ES_tradnl" sz="2000" dirty="0" err="1">
                <a:solidFill>
                  <a:srgbClr val="4A5568"/>
                </a:solidFill>
              </a:rPr>
              <a:t>Map</a:t>
            </a:r>
            <a:r>
              <a:rPr lang="es-ES_tradnl" sz="2000" dirty="0">
                <a:solidFill>
                  <a:srgbClr val="4A5568"/>
                </a:solidFill>
              </a:rPr>
              <a:t>(OMS) u otras fuentes</a:t>
            </a:r>
          </a:p>
          <a:p>
            <a:endParaRPr lang="es-ES_tradnl" sz="1200" dirty="0">
              <a:solidFill>
                <a:srgbClr val="4A5568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1400" dirty="0">
                <a:solidFill>
                  <a:srgbClr val="4A5568"/>
                </a:solidFill>
              </a:rPr>
              <a:t>osmWebWizard.py, osmGet.py y </a:t>
            </a:r>
            <a:r>
              <a:rPr lang="es-ES_tradnl" sz="1400" dirty="0" err="1">
                <a:solidFill>
                  <a:srgbClr val="4A5568"/>
                </a:solidFill>
              </a:rPr>
              <a:t>osmBuild</a:t>
            </a:r>
            <a:r>
              <a:rPr lang="es-ES_tradnl" sz="1400" dirty="0">
                <a:solidFill>
                  <a:srgbClr val="4A5568"/>
                </a:solidFill>
              </a:rPr>
              <a:t> </a:t>
            </a:r>
            <a:r>
              <a:rPr lang="es-ES_tradnl" sz="1400" dirty="0">
                <a:solidFill>
                  <a:srgbClr val="4A5568"/>
                </a:solidFill>
                <a:hlinkClick r:id="rId4"/>
              </a:rPr>
              <a:t>https://sumo.dlr.de/docs/Tutorials/OSMWebWizard.html</a:t>
            </a:r>
            <a:br>
              <a:rPr lang="es-ES_tradnl" sz="1400" dirty="0">
                <a:solidFill>
                  <a:srgbClr val="4A5568"/>
                </a:solidFill>
              </a:rPr>
            </a:br>
            <a:endParaRPr lang="es-ES_tradnl" sz="1400" dirty="0">
              <a:solidFill>
                <a:srgbClr val="4A5568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>
                <a:solidFill>
                  <a:srgbClr val="4A5568"/>
                </a:solidFill>
              </a:rPr>
              <a:t>wget</a:t>
            </a:r>
            <a:r>
              <a:rPr lang="pt-BR" sz="1400" dirty="0">
                <a:solidFill>
                  <a:srgbClr val="4A5568"/>
                </a:solidFill>
              </a:rPr>
              <a:t> -O </a:t>
            </a:r>
            <a:r>
              <a:rPr lang="pt-BR" sz="1400" dirty="0" err="1">
                <a:solidFill>
                  <a:srgbClr val="4A5568"/>
                </a:solidFill>
              </a:rPr>
              <a:t>pamplona.osm</a:t>
            </a:r>
            <a:r>
              <a:rPr lang="pt-BR" sz="1400" dirty="0">
                <a:solidFill>
                  <a:srgbClr val="4A5568"/>
                </a:solidFill>
              </a:rPr>
              <a:t> </a:t>
            </a:r>
            <a:r>
              <a:rPr lang="pt-BR" sz="1400" dirty="0">
                <a:solidFill>
                  <a:srgbClr val="4A5568"/>
                </a:solidFill>
                <a:hlinkClick r:id="rId5"/>
              </a:rPr>
              <a:t>https://overpass-api.de/api/map?bbox=-1.70,42.77,-1.59,42.85</a:t>
            </a:r>
            <a:endParaRPr lang="pt-BR" sz="1400" dirty="0">
              <a:solidFill>
                <a:srgbClr val="4A5568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600" u="sng" dirty="0">
              <a:solidFill>
                <a:srgbClr val="4A5568"/>
              </a:solidFill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576B787-9DC5-CBFE-C082-43E7B13F13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</p:spTree>
    <p:extLst>
      <p:ext uri="{BB962C8B-B14F-4D97-AF65-F5344CB8AC3E}">
        <p14:creationId xmlns:p14="http://schemas.microsoft.com/office/powerpoint/2010/main" val="2554421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</a:rPr>
              <a:t>Crear</a:t>
            </a:r>
            <a:r>
              <a:rPr lang="en-US" sz="2600" b="1" dirty="0">
                <a:solidFill>
                  <a:srgbClr val="FFFFFF"/>
                </a:solidFill>
              </a:rPr>
              <a:t> </a:t>
            </a:r>
            <a:r>
              <a:rPr lang="en-US" sz="2600" b="1" dirty="0" err="1">
                <a:solidFill>
                  <a:srgbClr val="FFFFFF"/>
                </a:solidFill>
              </a:rPr>
              <a:t>mapa</a:t>
            </a:r>
            <a:r>
              <a:rPr lang="en-US" sz="2600" b="1" dirty="0">
                <a:solidFill>
                  <a:srgbClr val="FFFFFF"/>
                </a:solidFill>
              </a:rPr>
              <a:t> de Pamplona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3638006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Descargar el mapa de Pamplona (bbox: oeste, sur, este, norte)</a:t>
            </a:r>
            <a:endParaRPr lang="en-US" sz="1200" dirty="0"/>
          </a:p>
          <a:p>
            <a:pPr marL="0" indent="0">
              <a:buNone/>
            </a:pPr>
            <a:r>
              <a:rPr lang="pt-BR" sz="1200" dirty="0" err="1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wget</a:t>
            </a:r>
            <a:r>
              <a:rPr lang="pt-BR" sz="1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-O </a:t>
            </a:r>
            <a:r>
              <a:rPr lang="pt-BR" sz="1200" dirty="0" err="1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pamplona.osm</a:t>
            </a:r>
            <a:r>
              <a:rPr lang="pt-BR" sz="1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"https://overpass-api.de/api/</a:t>
            </a:r>
            <a:r>
              <a:rPr lang="pt-BR" sz="1200" dirty="0" err="1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map?bbox</a:t>
            </a:r>
            <a:r>
              <a:rPr lang="pt-BR" sz="1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=-1.72361,42.76307,-1.54817,42.84873"</a:t>
            </a:r>
            <a:endParaRPr lang="en-US" sz="1200" dirty="0">
              <a:solidFill>
                <a:srgbClr val="7F849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7F849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Convertir a red de SUMO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7F849C"/>
                </a:solidFill>
                <a:latin typeface="Consolas" pitchFamily="34" charset="0"/>
              </a:rPr>
              <a:t>#Borrado de vias </a:t>
            </a:r>
            <a:r>
              <a:rPr lang="en-US" sz="1200" dirty="0" err="1">
                <a:solidFill>
                  <a:srgbClr val="7F849C"/>
                </a:solidFill>
                <a:latin typeface="Consolas" pitchFamily="34" charset="0"/>
              </a:rPr>
              <a:t>por</a:t>
            </a:r>
            <a:r>
              <a:rPr lang="en-US" sz="1200" dirty="0">
                <a:solidFill>
                  <a:srgbClr val="7F849C"/>
                </a:solidFill>
                <a:latin typeface="Consolas" pitchFamily="34" charset="0"/>
              </a:rPr>
              <a:t> </a:t>
            </a:r>
            <a:r>
              <a:rPr lang="en-US" sz="1200" dirty="0" err="1">
                <a:solidFill>
                  <a:srgbClr val="7F849C"/>
                </a:solidFill>
                <a:latin typeface="Consolas" pitchFamily="34" charset="0"/>
              </a:rPr>
              <a:t>tipo</a:t>
            </a:r>
            <a:r>
              <a:rPr lang="en-US" sz="1200" dirty="0">
                <a:solidFill>
                  <a:srgbClr val="7F849C"/>
                </a:solidFill>
                <a:latin typeface="Consolas" pitchFamily="34" charset="0"/>
              </a:rPr>
              <a:t> de </a:t>
            </a:r>
            <a:r>
              <a:rPr lang="en-US" sz="1200" dirty="0" err="1">
                <a:solidFill>
                  <a:srgbClr val="7F849C"/>
                </a:solidFill>
                <a:latin typeface="Consolas" pitchFamily="34" charset="0"/>
              </a:rPr>
              <a:t>vehiculo</a:t>
            </a:r>
            <a:r>
              <a:rPr lang="en-US" sz="1200" dirty="0">
                <a:solidFill>
                  <a:srgbClr val="7F849C"/>
                </a:solidFill>
                <a:latin typeface="Consolas" pitchFamily="34" charset="0"/>
              </a:rPr>
              <a:t> que </a:t>
            </a:r>
            <a:r>
              <a:rPr lang="en-US" sz="1200" dirty="0" err="1">
                <a:solidFill>
                  <a:srgbClr val="7F849C"/>
                </a:solidFill>
                <a:latin typeface="Consolas" pitchFamily="34" charset="0"/>
              </a:rPr>
              <a:t>circula</a:t>
            </a:r>
            <a:r>
              <a:rPr lang="en-US" sz="1200" dirty="0">
                <a:solidFill>
                  <a:srgbClr val="7F849C"/>
                </a:solidFill>
                <a:latin typeface="Consolas" pitchFamily="34" charset="0"/>
              </a:rPr>
              <a:t> </a:t>
            </a:r>
            <a:r>
              <a:rPr lang="en-US" sz="1200" dirty="0" err="1">
                <a:solidFill>
                  <a:srgbClr val="7F849C"/>
                </a:solidFill>
                <a:latin typeface="Consolas" pitchFamily="34" charset="0"/>
              </a:rPr>
              <a:t>por</a:t>
            </a:r>
            <a:r>
              <a:rPr lang="en-US" sz="1200" dirty="0">
                <a:solidFill>
                  <a:srgbClr val="7F849C"/>
                </a:solidFill>
                <a:latin typeface="Consolas" pitchFamily="34" charset="0"/>
              </a:rPr>
              <a:t> </a:t>
            </a:r>
            <a:r>
              <a:rPr lang="en-US" sz="1200" dirty="0" err="1">
                <a:solidFill>
                  <a:srgbClr val="7F849C"/>
                </a:solidFill>
                <a:latin typeface="Consolas" pitchFamily="34" charset="0"/>
              </a:rPr>
              <a:t>ella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netconvert --osm-files pamplona.osm -o pamplona.net.xml --geometry.remove --ramps.guess --junctions.join --</a:t>
            </a:r>
            <a:r>
              <a:rPr lang="en-US" sz="1100" dirty="0" err="1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tls.guess</a:t>
            </a:r>
            <a:r>
              <a:rPr lang="en-US" sz="11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-signals --remove-edges.by-</a:t>
            </a:r>
            <a:r>
              <a:rPr lang="en-US" sz="1100" dirty="0" err="1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vclass</a:t>
            </a:r>
            <a:r>
              <a:rPr lang="en-US" sz="11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hov,taxi,bus,delivery,transport,lightrail,rail,cityrail,rail_slow,rail_fast</a:t>
            </a:r>
          </a:p>
          <a:p>
            <a:endParaRPr lang="en-US" sz="1100" dirty="0">
              <a:solidFill>
                <a:srgbClr val="7F849C"/>
              </a:solidFill>
              <a:latin typeface="Consolas" pitchFamily="34" charset="0"/>
            </a:endParaRPr>
          </a:p>
          <a:p>
            <a:endParaRPr lang="en-US" sz="1100" dirty="0">
              <a:solidFill>
                <a:srgbClr val="7F849C"/>
              </a:solidFill>
              <a:latin typeface="Consolas" pitchFamily="34" charset="0"/>
            </a:endParaRPr>
          </a:p>
          <a:p>
            <a:r>
              <a:rPr lang="en-US" sz="1100" dirty="0">
                <a:solidFill>
                  <a:srgbClr val="7F849C"/>
                </a:solidFill>
                <a:latin typeface="Consolas" pitchFamily="34" charset="0"/>
              </a:rPr>
              <a:t>#Conservar vias </a:t>
            </a:r>
            <a:r>
              <a:rPr lang="en-US" sz="1100" dirty="0" err="1">
                <a:solidFill>
                  <a:srgbClr val="7F849C"/>
                </a:solidFill>
                <a:latin typeface="Consolas" pitchFamily="34" charset="0"/>
              </a:rPr>
              <a:t>por</a:t>
            </a:r>
            <a:r>
              <a:rPr lang="en-US" sz="1100" dirty="0">
                <a:solidFill>
                  <a:srgbClr val="7F849C"/>
                </a:solidFill>
                <a:latin typeface="Consolas" pitchFamily="34" charset="0"/>
              </a:rPr>
              <a:t> </a:t>
            </a:r>
            <a:r>
              <a:rPr lang="en-US" sz="1100" dirty="0" err="1">
                <a:solidFill>
                  <a:srgbClr val="7F849C"/>
                </a:solidFill>
                <a:latin typeface="Consolas" pitchFamily="34" charset="0"/>
              </a:rPr>
              <a:t>tipo</a:t>
            </a:r>
            <a:r>
              <a:rPr lang="en-US" sz="1100" dirty="0">
                <a:solidFill>
                  <a:srgbClr val="7F849C"/>
                </a:solidFill>
                <a:latin typeface="Consolas" pitchFamily="34" charset="0"/>
              </a:rPr>
              <a:t> de </a:t>
            </a:r>
            <a:r>
              <a:rPr lang="en-US" sz="1100" dirty="0" err="1">
                <a:solidFill>
                  <a:srgbClr val="7F849C"/>
                </a:solidFill>
                <a:latin typeface="Consolas" pitchFamily="34" charset="0"/>
              </a:rPr>
              <a:t>vehiculo</a:t>
            </a:r>
            <a:r>
              <a:rPr lang="en-US" sz="1100" dirty="0">
                <a:solidFill>
                  <a:srgbClr val="7F849C"/>
                </a:solidFill>
                <a:latin typeface="Consolas" pitchFamily="34" charset="0"/>
              </a:rPr>
              <a:t> que </a:t>
            </a:r>
            <a:r>
              <a:rPr lang="en-US" sz="1100" dirty="0" err="1">
                <a:solidFill>
                  <a:srgbClr val="7F849C"/>
                </a:solidFill>
                <a:latin typeface="Consolas" pitchFamily="34" charset="0"/>
              </a:rPr>
              <a:t>circula</a:t>
            </a:r>
            <a:r>
              <a:rPr lang="en-US" sz="1100" dirty="0">
                <a:solidFill>
                  <a:srgbClr val="7F849C"/>
                </a:solidFill>
                <a:latin typeface="Consolas" pitchFamily="34" charset="0"/>
              </a:rPr>
              <a:t> </a:t>
            </a:r>
            <a:r>
              <a:rPr lang="en-US" sz="1100" dirty="0" err="1">
                <a:solidFill>
                  <a:srgbClr val="7F849C"/>
                </a:solidFill>
                <a:latin typeface="Consolas" pitchFamily="34" charset="0"/>
              </a:rPr>
              <a:t>por</a:t>
            </a:r>
            <a:r>
              <a:rPr lang="en-US" sz="1100" dirty="0">
                <a:solidFill>
                  <a:srgbClr val="7F849C"/>
                </a:solidFill>
                <a:latin typeface="Consolas" pitchFamily="34" charset="0"/>
              </a:rPr>
              <a:t> </a:t>
            </a:r>
            <a:r>
              <a:rPr lang="en-US" sz="1100" dirty="0" err="1">
                <a:solidFill>
                  <a:srgbClr val="7F849C"/>
                </a:solidFill>
                <a:latin typeface="Consolas" pitchFamily="34" charset="0"/>
              </a:rPr>
              <a:t>ella</a:t>
            </a:r>
            <a:endParaRPr lang="en-US" sz="1100" dirty="0"/>
          </a:p>
          <a:p>
            <a:pPr marL="0" indent="0">
              <a:buNone/>
            </a:pPr>
            <a:r>
              <a:rPr lang="en-US" sz="1100" dirty="0" err="1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netconvert</a:t>
            </a:r>
            <a:r>
              <a:rPr lang="en-US" sz="11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--</a:t>
            </a:r>
            <a:r>
              <a:rPr lang="en-US" sz="1100" dirty="0" err="1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osm</a:t>
            </a:r>
            <a:r>
              <a:rPr lang="en-US" sz="11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-files </a:t>
            </a:r>
            <a:r>
              <a:rPr lang="en-US" sz="1100" dirty="0" err="1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pamplona.osm</a:t>
            </a:r>
            <a:r>
              <a:rPr lang="en-US" sz="11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--output-file pamplona.net.xml  --remove-</a:t>
            </a:r>
            <a:r>
              <a:rPr lang="en-US" sz="1100" dirty="0" err="1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edges.isolated</a:t>
            </a:r>
            <a:r>
              <a:rPr lang="en-US" sz="11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--keep-edges.by-</a:t>
            </a:r>
            <a:r>
              <a:rPr lang="en-US" sz="1100" dirty="0" err="1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vclass</a:t>
            </a:r>
            <a:r>
              <a:rPr lang="en-US" sz="11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passenger</a:t>
            </a:r>
          </a:p>
          <a:p>
            <a:pPr marL="0" indent="0">
              <a:buNone/>
            </a:pPr>
            <a:endParaRPr lang="en-US" sz="1200" dirty="0">
              <a:solidFill>
                <a:srgbClr val="7F849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9795DF5-CB45-01CC-992C-BF241DC8F537}"/>
              </a:ext>
            </a:extLst>
          </p:cNvPr>
          <p:cNvSpPr txBox="1"/>
          <p:nvPr/>
        </p:nvSpPr>
        <p:spPr>
          <a:xfrm>
            <a:off x="457200" y="4728753"/>
            <a:ext cx="6874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4A5568"/>
                </a:solidFill>
              </a:rPr>
              <a:t>Los </a:t>
            </a:r>
            <a:r>
              <a:rPr lang="en-US" sz="1800" dirty="0" err="1">
                <a:solidFill>
                  <a:srgbClr val="4A5568"/>
                </a:solidFill>
              </a:rPr>
              <a:t>archivos</a:t>
            </a:r>
            <a:r>
              <a:rPr lang="en-US" sz="1800" dirty="0">
                <a:solidFill>
                  <a:srgbClr val="4A5568"/>
                </a:solidFill>
              </a:rPr>
              <a:t> .net.xml (red) y .rou.xml (</a:t>
            </a:r>
            <a:r>
              <a:rPr lang="en-US" sz="1800" dirty="0" err="1">
                <a:solidFill>
                  <a:srgbClr val="4A5568"/>
                </a:solidFill>
              </a:rPr>
              <a:t>rutas</a:t>
            </a:r>
            <a:r>
              <a:rPr lang="en-US" sz="1800" dirty="0">
                <a:solidFill>
                  <a:srgbClr val="4A5568"/>
                </a:solidFill>
              </a:rPr>
              <a:t>) se </a:t>
            </a:r>
            <a:r>
              <a:rPr lang="en-US" sz="1800" dirty="0" err="1">
                <a:solidFill>
                  <a:srgbClr val="4A5568"/>
                </a:solidFill>
              </a:rPr>
              <a:t>enlazan</a:t>
            </a:r>
            <a:r>
              <a:rPr lang="en-US" sz="1800" dirty="0">
                <a:solidFill>
                  <a:srgbClr val="4A5568"/>
                </a:solidFill>
              </a:rPr>
              <a:t> </a:t>
            </a:r>
            <a:r>
              <a:rPr lang="en-US" sz="1800" dirty="0" err="1">
                <a:solidFill>
                  <a:srgbClr val="4A5568"/>
                </a:solidFill>
              </a:rPr>
              <a:t>en</a:t>
            </a:r>
            <a:r>
              <a:rPr lang="en-US" sz="1800" dirty="0">
                <a:solidFill>
                  <a:srgbClr val="4A5568"/>
                </a:solidFill>
              </a:rPr>
              <a:t> un .</a:t>
            </a:r>
            <a:r>
              <a:rPr lang="en-US" sz="1800" dirty="0" err="1">
                <a:solidFill>
                  <a:srgbClr val="4A5568"/>
                </a:solidFill>
              </a:rPr>
              <a:t>sumocfg</a:t>
            </a:r>
            <a:r>
              <a:rPr lang="en-US" sz="1800" dirty="0">
                <a:solidFill>
                  <a:srgbClr val="4A5568"/>
                </a:solidFill>
              </a:rPr>
              <a:t>.</a:t>
            </a:r>
            <a:endParaRPr lang="en-US" sz="180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F6E210A-AC75-BBBD-05F9-575C0F8CB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416D6091-5BA4-C6CF-B043-57517D672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646" y="1038497"/>
            <a:ext cx="4800599" cy="3433182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</a:rPr>
              <a:t>Creación</a:t>
            </a:r>
            <a:r>
              <a:rPr lang="en-US" sz="2600" b="1" dirty="0">
                <a:solidFill>
                  <a:srgbClr val="FFFFFF"/>
                </a:solidFill>
              </a:rPr>
              <a:t> de </a:t>
            </a:r>
            <a:r>
              <a:rPr lang="en-US" sz="2600" b="1" dirty="0" err="1">
                <a:solidFill>
                  <a:srgbClr val="FFFFFF"/>
                </a:solidFill>
              </a:rPr>
              <a:t>una</a:t>
            </a:r>
            <a:r>
              <a:rPr lang="en-US" sz="2600" b="1" dirty="0">
                <a:solidFill>
                  <a:srgbClr val="FFFFFF"/>
                </a:solidFill>
              </a:rPr>
              <a:t> </a:t>
            </a:r>
            <a:r>
              <a:rPr lang="en-US" sz="2600" b="1" dirty="0" err="1">
                <a:solidFill>
                  <a:srgbClr val="FFFFFF"/>
                </a:solidFill>
              </a:rPr>
              <a:t>demanda</a:t>
            </a:r>
            <a:r>
              <a:rPr lang="en-US" sz="2600" b="1" dirty="0">
                <a:solidFill>
                  <a:srgbClr val="FFFFFF"/>
                </a:solidFill>
              </a:rPr>
              <a:t> de </a:t>
            </a:r>
            <a:r>
              <a:rPr lang="en-US" sz="2600" b="1" dirty="0" err="1">
                <a:solidFill>
                  <a:srgbClr val="FFFFFF"/>
                </a:solidFill>
              </a:rPr>
              <a:t>vehículos</a:t>
            </a:r>
            <a:endParaRPr lang="en-US" sz="26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9CB68D4-E6E3-E651-DCF0-9251A8D9F9F4}"/>
              </a:ext>
            </a:extLst>
          </p:cNvPr>
          <p:cNvSpPr txBox="1"/>
          <p:nvPr/>
        </p:nvSpPr>
        <p:spPr>
          <a:xfrm>
            <a:off x="248195" y="927463"/>
            <a:ext cx="408214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000" dirty="0">
                <a:solidFill>
                  <a:srgbClr val="4A5568"/>
                </a:solidFill>
              </a:rPr>
              <a:t>Demanda de vehículos sobre las red que vayamos a usar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000" dirty="0">
              <a:solidFill>
                <a:srgbClr val="4A5568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000" dirty="0">
                <a:solidFill>
                  <a:srgbClr val="4A5568"/>
                </a:solidFill>
              </a:rPr>
              <a:t>randomTrips.py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000" dirty="0" err="1">
                <a:solidFill>
                  <a:srgbClr val="4A5568"/>
                </a:solidFill>
              </a:rPr>
              <a:t>duarouter</a:t>
            </a:r>
            <a:endParaRPr lang="es-ES_tradnl" sz="2000" dirty="0">
              <a:solidFill>
                <a:srgbClr val="4A5568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000" dirty="0">
                <a:solidFill>
                  <a:srgbClr val="4A5568"/>
                </a:solidFill>
              </a:rPr>
              <a:t>Tipos de “viajes”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000" dirty="0">
                <a:solidFill>
                  <a:srgbClr val="4A5568"/>
                </a:solidFill>
              </a:rPr>
              <a:t>Vehículos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000" dirty="0">
                <a:solidFill>
                  <a:srgbClr val="4A5568"/>
                </a:solidFill>
              </a:rPr>
              <a:t>Viajes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000" dirty="0">
                <a:solidFill>
                  <a:srgbClr val="4A5568"/>
                </a:solidFill>
              </a:rPr>
              <a:t>Flujos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000" dirty="0">
                <a:solidFill>
                  <a:srgbClr val="4A5568"/>
                </a:solidFill>
              </a:rPr>
              <a:t>Pesos(</a:t>
            </a:r>
            <a:r>
              <a:rPr lang="es-ES_tradnl" sz="2000" dirty="0" err="1">
                <a:solidFill>
                  <a:srgbClr val="4A5568"/>
                </a:solidFill>
              </a:rPr>
              <a:t>weights</a:t>
            </a:r>
            <a:r>
              <a:rPr lang="es-ES_tradnl" sz="2000" dirty="0">
                <a:solidFill>
                  <a:srgbClr val="4A5568"/>
                </a:solidFill>
              </a:rPr>
              <a:t>)</a:t>
            </a:r>
            <a:endParaRPr lang="es-ES" sz="2000" dirty="0">
              <a:solidFill>
                <a:srgbClr val="4A5568"/>
              </a:solidFill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B642FC9-0427-3B2B-0093-B17F0F5269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</p:spTree>
    <p:extLst>
      <p:ext uri="{BB962C8B-B14F-4D97-AF65-F5344CB8AC3E}">
        <p14:creationId xmlns:p14="http://schemas.microsoft.com/office/powerpoint/2010/main" val="1670911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</a:rPr>
              <a:t>Creación</a:t>
            </a:r>
            <a:r>
              <a:rPr lang="en-US" sz="2600" b="1" dirty="0">
                <a:solidFill>
                  <a:srgbClr val="FFFFFF"/>
                </a:solidFill>
              </a:rPr>
              <a:t> de la </a:t>
            </a:r>
            <a:r>
              <a:rPr lang="en-US" sz="2600" b="1" dirty="0" err="1">
                <a:solidFill>
                  <a:srgbClr val="FFFFFF"/>
                </a:solidFill>
              </a:rPr>
              <a:t>demanda</a:t>
            </a:r>
            <a:r>
              <a:rPr lang="en-US" sz="2600" b="1" dirty="0">
                <a:solidFill>
                  <a:srgbClr val="FFFFFF"/>
                </a:solidFill>
              </a:rPr>
              <a:t> de </a:t>
            </a:r>
            <a:r>
              <a:rPr lang="en-US" sz="2600" b="1" dirty="0" err="1">
                <a:solidFill>
                  <a:srgbClr val="FFFFFF"/>
                </a:solidFill>
              </a:rPr>
              <a:t>vehiculos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79"/>
            <a:ext cx="8229600" cy="3285309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</a:t>
            </a:r>
            <a:r>
              <a:rPr lang="en-US" sz="1600" dirty="0" err="1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Generar</a:t>
            </a:r>
            <a:r>
              <a:rPr lang="en-US" sz="16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10 </a:t>
            </a:r>
            <a:r>
              <a:rPr lang="en-US" sz="1600" dirty="0" err="1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minutos</a:t>
            </a:r>
            <a:r>
              <a:rPr lang="en-US" sz="16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 </a:t>
            </a:r>
            <a:r>
              <a:rPr lang="en-US" sz="1600" dirty="0" err="1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tráfico</a:t>
            </a:r>
            <a:r>
              <a:rPr lang="en-US" sz="16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 err="1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aleatorio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</a:t>
            </a:r>
            <a:r>
              <a:rPr lang="es-ES" sz="16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C:\Proyectos\01_SUMO\sumo-1.28.0\tools</a:t>
            </a:r>
            <a:r>
              <a:rPr lang="en-US" sz="16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\randomTrips.py -n pamplona.net.xml -r pamplona.rou.xml -e 3600 --period 1 --fringe-factor 1  --validate</a:t>
            </a:r>
            <a:endParaRPr lang="en-US" sz="1600" dirty="0"/>
          </a:p>
          <a:p>
            <a:pPr marL="0" indent="0">
              <a:buNone/>
            </a:pPr>
            <a:endParaRPr lang="en-US" sz="1600" dirty="0">
              <a:solidFill>
                <a:srgbClr val="7F849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600" dirty="0">
              <a:solidFill>
                <a:srgbClr val="7F849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</a:t>
            </a:r>
            <a:r>
              <a:rPr lang="en-US" sz="1600" dirty="0" err="1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Ejecutar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sumo -n pamplona.net.xml -r pamplona.rou.xml --emission-output emissions.xml --</a:t>
            </a:r>
            <a:r>
              <a:rPr lang="en-US" sz="1600" dirty="0" err="1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edgedata</a:t>
            </a:r>
            <a:r>
              <a:rPr lang="en-US" sz="16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-output traffic.xml --</a:t>
            </a:r>
            <a:r>
              <a:rPr lang="en-US" sz="1600" dirty="0" err="1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fcd</a:t>
            </a:r>
            <a:r>
              <a:rPr lang="en-US" sz="16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-output fcd.xml </a:t>
            </a:r>
            <a:br>
              <a:rPr lang="en-US" sz="16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6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--step-length 0,01 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474029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Los archivos .net.xml (red) y .rou.xml (rutas) se enlazan en un .sumocfg.</a:t>
            </a:r>
            <a:endParaRPr lang="en-US" sz="160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2DE4C85-956E-A9E1-927F-BB5018899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TraCI: controlar SUMO desde Python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754880" cy="2651760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44805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traci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traci.start(["sumo", "-c", "mi.sumocfg"])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traci.simulation.getMinExpectedNumber() &gt; 0: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traci.simulationStep()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ids = traci.vehicle.getIDList()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traci.close()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9728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</a:rPr>
              <a:t>Avanza la simulación paso a paso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</a:rPr>
              <a:t>Lee y modifica vehículos, semáforos y rutas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</a:rPr>
              <a:t>Base del aprendizaje por refuerzo (SUMO-RL)</a:t>
            </a:r>
            <a:endParaRPr lang="en-US" sz="170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0D4903D-30A0-D97D-B30E-69E6775DC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</a:rPr>
              <a:t>Resultados</a:t>
            </a:r>
            <a:r>
              <a:rPr lang="en-US" sz="2600" b="1" dirty="0">
                <a:solidFill>
                  <a:srgbClr val="FFFFFF"/>
                </a:solidFill>
              </a:rPr>
              <a:t> de la </a:t>
            </a:r>
            <a:r>
              <a:rPr lang="en-US" sz="2600" b="1" dirty="0" err="1">
                <a:solidFill>
                  <a:srgbClr val="FFFFFF"/>
                </a:solidFill>
              </a:rPr>
              <a:t>simulación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199" y="1280160"/>
            <a:ext cx="7347857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7347856" cy="849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1F3A5F"/>
                </a:solidFill>
              </a:rPr>
              <a:t>Emissiones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59" y="2057400"/>
            <a:ext cx="6936377" cy="2828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4A5568"/>
                </a:solidFill>
              </a:rPr>
              <a:t>Trata el tráfico como un flujo continuo (densidad, caudal). Rápido, pero sin detalle por </a:t>
            </a:r>
            <a:r>
              <a:rPr lang="en-US" sz="1400" dirty="0" err="1">
                <a:solidFill>
                  <a:srgbClr val="4A5568"/>
                </a:solidFill>
              </a:rPr>
              <a:t>vehículo</a:t>
            </a:r>
            <a:r>
              <a:rPr lang="en-US" sz="1400" dirty="0">
                <a:solidFill>
                  <a:srgbClr val="4A5568"/>
                </a:solidFill>
              </a:rPr>
              <a:t>. E</a:t>
            </a:r>
            <a:r>
              <a:rPr lang="es-ES" sz="1400" dirty="0">
                <a:solidFill>
                  <a:srgbClr val="4A5568"/>
                </a:solidFill>
              </a:rPr>
              <a:t>l tráfico no se modela vehículo por vehículo, sino como un flujo continuo o entidad agregada donde las variables principales son el </a:t>
            </a:r>
            <a:r>
              <a:rPr lang="es-ES" sz="1400" b="1" dirty="0">
                <a:solidFill>
                  <a:srgbClr val="4A5568"/>
                </a:solidFill>
              </a:rPr>
              <a:t>volumen</a:t>
            </a:r>
            <a:r>
              <a:rPr lang="es-ES" sz="1400" dirty="0">
                <a:solidFill>
                  <a:srgbClr val="4A5568"/>
                </a:solidFill>
              </a:rPr>
              <a:t>, la </a:t>
            </a:r>
            <a:r>
              <a:rPr lang="es-ES" sz="1400" b="1" dirty="0">
                <a:solidFill>
                  <a:srgbClr val="4A5568"/>
                </a:solidFill>
              </a:rPr>
              <a:t>densidad </a:t>
            </a:r>
            <a:r>
              <a:rPr lang="es-ES" sz="1400" dirty="0">
                <a:solidFill>
                  <a:srgbClr val="4A5568"/>
                </a:solidFill>
              </a:rPr>
              <a:t>de la </a:t>
            </a:r>
            <a:r>
              <a:rPr lang="es-ES" sz="1400" dirty="0" err="1">
                <a:solidFill>
                  <a:srgbClr val="4A5568"/>
                </a:solidFill>
              </a:rPr>
              <a:t>via</a:t>
            </a:r>
            <a:r>
              <a:rPr lang="es-ES" sz="1400" dirty="0">
                <a:solidFill>
                  <a:srgbClr val="4A5568"/>
                </a:solidFill>
              </a:rPr>
              <a:t> y la </a:t>
            </a:r>
            <a:r>
              <a:rPr lang="es-ES" sz="1400" b="1" dirty="0">
                <a:solidFill>
                  <a:srgbClr val="4A5568"/>
                </a:solidFill>
              </a:rPr>
              <a:t>velocidad media</a:t>
            </a:r>
            <a:r>
              <a:rPr lang="es-ES" sz="1400" dirty="0">
                <a:solidFill>
                  <a:srgbClr val="4A5568"/>
                </a:solidFill>
              </a:rPr>
              <a:t>.</a:t>
            </a:r>
            <a:endParaRPr lang="en-US" sz="1400" dirty="0">
              <a:solidFill>
                <a:srgbClr val="4A5568"/>
              </a:solidFill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9A8B28FD-E205-DDAC-A95E-F55DC97E2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</p:spTree>
    <p:extLst>
      <p:ext uri="{BB962C8B-B14F-4D97-AF65-F5344CB8AC3E}">
        <p14:creationId xmlns:p14="http://schemas.microsoft.com/office/powerpoint/2010/main" val="32255057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Resumen y recursos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4A5568"/>
                </a:solidFill>
              </a:rPr>
              <a:t>SUMO es un simulador microscópico, multimodal y abierto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4A5568"/>
                </a:solidFill>
              </a:rPr>
              <a:t>Flujo: red → demanda → configuración → simulación → análisis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4A5568"/>
                </a:solidFill>
              </a:rPr>
              <a:t>TraCI abre la puerta a control en tiempo real e IA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4A5568"/>
                </a:solidFill>
              </a:rPr>
              <a:t>Documentación y tutoriales: sumo.dlr.de/docs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4A5568"/>
                </a:solidFill>
              </a:rPr>
              <a:t>¿Preguntas?</a:t>
            </a:r>
            <a:endParaRPr lang="en-US" sz="20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B8021F2-ADF7-3D74-A2E0-20C6A35BE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3640" y="42972"/>
            <a:ext cx="681760" cy="737015"/>
          </a:xfrm>
          <a:prstGeom prst="rect">
            <a:avLst/>
          </a:prstGeom>
          <a:solidFill>
            <a:srgbClr val="F4F7FA"/>
          </a:solidFill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845</TotalTime>
  <Words>1182</Words>
  <Application>Microsoft Office PowerPoint</Application>
  <PresentationFormat>Presentación en pantalla (16:9)</PresentationFormat>
  <Paragraphs>148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Consolas</vt:lpstr>
      <vt:lpstr>SFMono-Regular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SUMO</dc:title>
  <dc:subject>PptxGenJS Presentation</dc:subject>
  <dc:creator>PptxGenJS</dc:creator>
  <cp:lastModifiedBy>Pedro Maria Esparza Apezteguia</cp:lastModifiedBy>
  <cp:revision>88</cp:revision>
  <dcterms:created xsi:type="dcterms:W3CDTF">2026-10-25T21:52:03Z</dcterms:created>
  <dcterms:modified xsi:type="dcterms:W3CDTF">2026-10-28T10:59:21Z</dcterms:modified>
</cp:coreProperties>
</file>