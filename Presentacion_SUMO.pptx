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7" r:id="rId4"/>
    <p:sldId id="258" r:id="rId5"/>
    <p:sldId id="263" r:id="rId6"/>
    <p:sldId id="259" r:id="rId7"/>
    <p:sldId id="260" r:id="rId8"/>
    <p:sldId id="276" r:id="rId9"/>
    <p:sldId id="264" r:id="rId10"/>
    <p:sldId id="274" r:id="rId11"/>
    <p:sldId id="270" r:id="rId12"/>
    <p:sldId id="265" r:id="rId13"/>
    <p:sldId id="271" r:id="rId14"/>
    <p:sldId id="261" r:id="rId15"/>
    <p:sldId id="262" r:id="rId16"/>
    <p:sldId id="275" r:id="rId17"/>
    <p:sldId id="26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DE6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23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90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81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80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44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74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umo.dlr.de/docs/Downloads.ph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overpass-api.de/api/map?bbox=-1.70,42.77,-1.59,42.85" TargetMode="External"/><Relationship Id="rId4" Type="http://schemas.openxmlformats.org/officeDocument/2006/relationships/hyperlink" Target="https://sumo.dlr.de/docs/Tutorials/OSMWebWizard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AD9D0"/>
                </a:solidFill>
              </a:rPr>
              <a:t>Simulation of Urban MObility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Introducción a la simulación de tráfico · Aspectos básicos</a:t>
            </a:r>
            <a:endParaRPr lang="en-US" sz="18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E65C611-686E-65F9-F336-04C382B48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02400"/>
            <a:ext cx="3731029" cy="1276651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9BFD4871-32C4-157A-97AB-715CF454C526}"/>
              </a:ext>
            </a:extLst>
          </p:cNvPr>
          <p:cNvSpPr/>
          <p:nvPr/>
        </p:nvSpPr>
        <p:spPr>
          <a:xfrm>
            <a:off x="352698" y="930748"/>
            <a:ext cx="8438604" cy="3768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/>
          <a:lstStyle/>
          <a:p>
            <a:pPr marL="342900" indent="-342900">
              <a:buSzPct val="100000"/>
              <a:buFontTx/>
              <a:buChar char="•"/>
            </a:pPr>
            <a:endParaRPr lang="en-US" sz="18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>
                <a:solidFill>
                  <a:srgbClr val="4A5568"/>
                </a:solidFill>
              </a:rPr>
              <a:t>¿</a:t>
            </a:r>
            <a:r>
              <a:rPr lang="en-US" sz="1800" dirty="0" err="1">
                <a:solidFill>
                  <a:srgbClr val="4A5568"/>
                </a:solidFill>
              </a:rPr>
              <a:t>Qué</a:t>
            </a:r>
            <a:r>
              <a:rPr lang="en-US" sz="1800" dirty="0">
                <a:solidFill>
                  <a:srgbClr val="4A5568"/>
                </a:solidFill>
              </a:rPr>
              <a:t> es SUMO?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 err="1">
                <a:solidFill>
                  <a:srgbClr val="4A5568"/>
                </a:solidFill>
              </a:rPr>
              <a:t>Tipos</a:t>
            </a:r>
            <a:r>
              <a:rPr lang="en-US" sz="1800" dirty="0">
                <a:solidFill>
                  <a:srgbClr val="4A5568"/>
                </a:solidFill>
              </a:rPr>
              <a:t> de </a:t>
            </a:r>
            <a:r>
              <a:rPr lang="en-US" sz="1800" dirty="0" err="1">
                <a:solidFill>
                  <a:srgbClr val="4A5568"/>
                </a:solidFill>
              </a:rPr>
              <a:t>enfoques</a:t>
            </a:r>
            <a:r>
              <a:rPr lang="en-US" sz="1800" dirty="0">
                <a:solidFill>
                  <a:srgbClr val="4A5568"/>
                </a:solidFill>
              </a:rPr>
              <a:t> a la hora de </a:t>
            </a:r>
            <a:r>
              <a:rPr lang="en-US" sz="1800" dirty="0" err="1">
                <a:solidFill>
                  <a:srgbClr val="4A5568"/>
                </a:solidFill>
              </a:rPr>
              <a:t>crear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una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simulación</a:t>
            </a:r>
            <a:endParaRPr lang="en-US" sz="18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 err="1">
                <a:solidFill>
                  <a:srgbClr val="4A5568"/>
                </a:solidFill>
              </a:rPr>
              <a:t>Posibles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usos</a:t>
            </a:r>
            <a:r>
              <a:rPr lang="en-US" sz="1800" dirty="0">
                <a:solidFill>
                  <a:srgbClr val="4A5568"/>
                </a:solidFill>
              </a:rPr>
              <a:t> de </a:t>
            </a:r>
            <a:r>
              <a:rPr lang="en-US" sz="1800" dirty="0" err="1">
                <a:solidFill>
                  <a:srgbClr val="4A5568"/>
                </a:solidFill>
              </a:rPr>
              <a:t>los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datos</a:t>
            </a:r>
            <a:r>
              <a:rPr lang="en-US" sz="1800" dirty="0">
                <a:solidFill>
                  <a:srgbClr val="4A5568"/>
                </a:solidFill>
              </a:rPr>
              <a:t> las </a:t>
            </a:r>
            <a:r>
              <a:rPr lang="en-US" sz="1800" dirty="0" err="1">
                <a:solidFill>
                  <a:srgbClr val="4A5568"/>
                </a:solidFill>
              </a:rPr>
              <a:t>simulaciones</a:t>
            </a:r>
            <a:endParaRPr lang="en-US" sz="18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 err="1">
                <a:solidFill>
                  <a:srgbClr val="4A5568"/>
                </a:solidFill>
              </a:rPr>
              <a:t>Herramientas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principales</a:t>
            </a:r>
            <a:r>
              <a:rPr lang="en-US" sz="1800" dirty="0">
                <a:solidFill>
                  <a:srgbClr val="4A5568"/>
                </a:solidFill>
              </a:rPr>
              <a:t> de SUMO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 err="1">
                <a:solidFill>
                  <a:srgbClr val="4A5568"/>
                </a:solidFill>
              </a:rPr>
              <a:t>Flujo</a:t>
            </a:r>
            <a:r>
              <a:rPr lang="en-US" sz="1800" dirty="0">
                <a:solidFill>
                  <a:srgbClr val="4A5568"/>
                </a:solidFill>
              </a:rPr>
              <a:t> de </a:t>
            </a:r>
            <a:r>
              <a:rPr lang="en-US" sz="1800" dirty="0" err="1">
                <a:solidFill>
                  <a:srgbClr val="4A5568"/>
                </a:solidFill>
              </a:rPr>
              <a:t>trabajo</a:t>
            </a:r>
            <a:r>
              <a:rPr lang="en-US" sz="1800" dirty="0">
                <a:solidFill>
                  <a:srgbClr val="4A5568"/>
                </a:solidFill>
              </a:rPr>
              <a:t> para </a:t>
            </a:r>
            <a:r>
              <a:rPr lang="en-US" sz="1800" dirty="0" err="1">
                <a:solidFill>
                  <a:srgbClr val="4A5568"/>
                </a:solidFill>
              </a:rPr>
              <a:t>crear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una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simulación</a:t>
            </a:r>
            <a:endParaRPr lang="en-US" sz="18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 err="1">
                <a:solidFill>
                  <a:srgbClr val="4A5568"/>
                </a:solidFill>
              </a:rPr>
              <a:t>Instalación</a:t>
            </a:r>
            <a:endParaRPr lang="en-US" sz="18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800" dirty="0" err="1">
                <a:solidFill>
                  <a:srgbClr val="4A5568"/>
                </a:solidFill>
              </a:rPr>
              <a:t>Creación</a:t>
            </a:r>
            <a:r>
              <a:rPr lang="en-US" sz="1800" dirty="0">
                <a:solidFill>
                  <a:srgbClr val="4A5568"/>
                </a:solidFill>
              </a:rPr>
              <a:t> de </a:t>
            </a:r>
            <a:r>
              <a:rPr lang="en-US" sz="1800" dirty="0" err="1">
                <a:solidFill>
                  <a:srgbClr val="4A5568"/>
                </a:solidFill>
              </a:rPr>
              <a:t>una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simulación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básica</a:t>
            </a:r>
            <a:endParaRPr lang="en-US" sz="1800" dirty="0">
              <a:solidFill>
                <a:srgbClr val="4A5568"/>
              </a:solidFill>
            </a:endParaRPr>
          </a:p>
          <a:p>
            <a:pPr marL="342900" indent="-342900">
              <a:buSzPct val="100000"/>
              <a:buFontTx/>
              <a:buChar char="•"/>
            </a:pPr>
            <a:endParaRPr lang="en-US" sz="1800" dirty="0">
              <a:solidFill>
                <a:srgbClr val="4A5568"/>
              </a:solidFill>
            </a:endParaRPr>
          </a:p>
          <a:p>
            <a:endParaRPr lang="es-E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CACF3D5-DC25-997F-A3BE-F37B7EFF97A0}"/>
              </a:ext>
            </a:extLst>
          </p:cNvPr>
          <p:cNvSpPr/>
          <p:nvPr/>
        </p:nvSpPr>
        <p:spPr>
          <a:xfrm>
            <a:off x="352698" y="930748"/>
            <a:ext cx="8438604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Presentación</a:t>
            </a:r>
            <a:endParaRPr lang="en-US" sz="2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F00D33-49E3-7C35-E60E-6467A4CAB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  <p:extLst>
      <p:ext uri="{BB962C8B-B14F-4D97-AF65-F5344CB8AC3E}">
        <p14:creationId xmlns:p14="http://schemas.microsoft.com/office/powerpoint/2010/main" val="409529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es SUMO?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16182"/>
            <a:ext cx="8288383" cy="3353789"/>
          </a:xfrm>
          <a:prstGeom prst="rect">
            <a:avLst/>
          </a:prstGeom>
          <a:noFill/>
          <a:ln w="12700">
            <a:solidFill>
              <a:srgbClr val="D5DDE6"/>
            </a:solidFill>
          </a:ln>
        </p:spPr>
        <p:txBody>
          <a:bodyPr wrap="square" rtlCol="0" anchor="t"/>
          <a:lstStyle/>
          <a:p>
            <a:pPr>
              <a:buSzPct val="100000"/>
            </a:pPr>
            <a:r>
              <a:rPr lang="es-ES" sz="2000" b="1" i="0" dirty="0">
                <a:solidFill>
                  <a:srgbClr val="403B3B"/>
                </a:solidFill>
                <a:effectLst/>
                <a:latin typeface="-apple-system"/>
              </a:rPr>
              <a:t>SUMO</a:t>
            </a:r>
            <a:r>
              <a:rPr lang="es-ES_tradnl" sz="2000" b="0" i="0" dirty="0">
                <a:solidFill>
                  <a:srgbClr val="403B3B"/>
                </a:solidFill>
                <a:effectLst/>
                <a:latin typeface="-apple-system"/>
              </a:rPr>
              <a:t>(</a:t>
            </a:r>
            <a:r>
              <a:rPr lang="es-ES_tradnl" sz="2000" b="1" i="0" dirty="0" err="1">
                <a:solidFill>
                  <a:srgbClr val="403B3B"/>
                </a:solidFill>
                <a:effectLst/>
                <a:latin typeface="-apple-system"/>
              </a:rPr>
              <a:t>S</a:t>
            </a:r>
            <a:r>
              <a:rPr lang="es-ES_tradnl" sz="2000" b="0" i="0" dirty="0" err="1">
                <a:solidFill>
                  <a:srgbClr val="403B3B"/>
                </a:solidFill>
                <a:effectLst/>
                <a:latin typeface="-apple-system"/>
              </a:rPr>
              <a:t>imulation</a:t>
            </a:r>
            <a:r>
              <a:rPr lang="es-ES_tradnl" sz="2000" b="0" i="0" dirty="0">
                <a:solidFill>
                  <a:srgbClr val="403B3B"/>
                </a:solidFill>
                <a:effectLst/>
                <a:latin typeface="-apple-system"/>
              </a:rPr>
              <a:t> </a:t>
            </a:r>
            <a:r>
              <a:rPr lang="es-ES_tradnl" sz="2000" b="0" i="0" dirty="0" err="1">
                <a:solidFill>
                  <a:srgbClr val="403B3B"/>
                </a:solidFill>
                <a:effectLst/>
                <a:latin typeface="-apple-system"/>
              </a:rPr>
              <a:t>of</a:t>
            </a:r>
            <a:r>
              <a:rPr lang="es-ES_tradnl" sz="2000" b="0" i="0" dirty="0">
                <a:solidFill>
                  <a:srgbClr val="403B3B"/>
                </a:solidFill>
                <a:effectLst/>
                <a:latin typeface="-apple-system"/>
              </a:rPr>
              <a:t> </a:t>
            </a:r>
            <a:r>
              <a:rPr lang="es-ES_tradnl" sz="2000" b="1" i="0" dirty="0">
                <a:solidFill>
                  <a:srgbClr val="403B3B"/>
                </a:solidFill>
                <a:effectLst/>
                <a:latin typeface="-apple-system"/>
              </a:rPr>
              <a:t>U</a:t>
            </a:r>
            <a:r>
              <a:rPr lang="es-ES_tradnl" sz="2000" b="0" i="0" dirty="0">
                <a:solidFill>
                  <a:srgbClr val="403B3B"/>
                </a:solidFill>
                <a:effectLst/>
                <a:latin typeface="-apple-system"/>
              </a:rPr>
              <a:t>rban </a:t>
            </a:r>
            <a:r>
              <a:rPr lang="es-ES_tradnl" sz="2000" b="1" i="0" dirty="0" err="1">
                <a:solidFill>
                  <a:srgbClr val="403B3B"/>
                </a:solidFill>
                <a:effectLst/>
                <a:latin typeface="-apple-system"/>
              </a:rPr>
              <a:t>MO</a:t>
            </a:r>
            <a:r>
              <a:rPr lang="es-ES_tradnl" sz="2000" b="0" i="0" dirty="0" err="1">
                <a:solidFill>
                  <a:srgbClr val="403B3B"/>
                </a:solidFill>
                <a:effectLst/>
                <a:latin typeface="-apple-system"/>
              </a:rPr>
              <a:t>bility</a:t>
            </a:r>
            <a:r>
              <a:rPr lang="es-ES_tradnl" sz="2000" b="0" i="0" dirty="0">
                <a:solidFill>
                  <a:srgbClr val="403B3B"/>
                </a:solidFill>
                <a:effectLst/>
                <a:latin typeface="-apple-system"/>
              </a:rPr>
              <a:t>),</a:t>
            </a:r>
            <a:r>
              <a:rPr lang="es-ES" sz="2000" b="0" i="0" dirty="0">
                <a:solidFill>
                  <a:srgbClr val="403B3B"/>
                </a:solidFill>
                <a:effectLst/>
                <a:latin typeface="-apple-system"/>
              </a:rPr>
              <a:t> un paquete de simulación de tráfico multimodal de código abierto(licencia EPL) diseñado para manejar grandes redes.</a:t>
            </a:r>
            <a:endParaRPr lang="en-US" sz="2000" dirty="0">
              <a:solidFill>
                <a:srgbClr val="4A5568"/>
              </a:solidFill>
            </a:endParaRPr>
          </a:p>
          <a:p>
            <a:pPr>
              <a:buSzPct val="100000"/>
            </a:pPr>
            <a:endParaRPr lang="en-US" sz="2000" dirty="0">
              <a:solidFill>
                <a:srgbClr val="4A5568"/>
              </a:solidFill>
            </a:endParaRPr>
          </a:p>
          <a:p>
            <a:pPr>
              <a:buSzPct val="100000"/>
            </a:pPr>
            <a:r>
              <a:rPr lang="en-US" sz="2000" dirty="0" err="1">
                <a:solidFill>
                  <a:srgbClr val="4A5568"/>
                </a:solidFill>
              </a:rPr>
              <a:t>Desarrollado</a:t>
            </a:r>
            <a:r>
              <a:rPr lang="en-US" sz="2000" dirty="0">
                <a:solidFill>
                  <a:srgbClr val="4A5568"/>
                </a:solidFill>
              </a:rPr>
              <a:t> </a:t>
            </a:r>
            <a:r>
              <a:rPr lang="en-US" sz="2000" dirty="0" err="1">
                <a:solidFill>
                  <a:srgbClr val="4A5568"/>
                </a:solidFill>
              </a:rPr>
              <a:t>por</a:t>
            </a:r>
            <a:r>
              <a:rPr lang="en-US" sz="2000" dirty="0">
                <a:solidFill>
                  <a:srgbClr val="4A5568"/>
                </a:solidFill>
              </a:rPr>
              <a:t> </a:t>
            </a:r>
            <a:r>
              <a:rPr lang="en-US" sz="2000" dirty="0" err="1">
                <a:solidFill>
                  <a:srgbClr val="4A5568"/>
                </a:solidFill>
              </a:rPr>
              <a:t>el</a:t>
            </a:r>
            <a:r>
              <a:rPr lang="en-US" sz="2000" dirty="0">
                <a:solidFill>
                  <a:srgbClr val="4A5568"/>
                </a:solidFill>
              </a:rPr>
              <a:t> DLR, </a:t>
            </a:r>
            <a:r>
              <a:rPr lang="en-US" sz="2000" dirty="0" err="1">
                <a:solidFill>
                  <a:srgbClr val="4A5568"/>
                </a:solidFill>
              </a:rPr>
              <a:t>el</a:t>
            </a:r>
            <a:r>
              <a:rPr lang="en-US" sz="2000" dirty="0">
                <a:solidFill>
                  <a:srgbClr val="4A5568"/>
                </a:solidFill>
              </a:rPr>
              <a:t> </a:t>
            </a:r>
            <a:r>
              <a:rPr lang="en-US" sz="2000" dirty="0" err="1">
                <a:solidFill>
                  <a:srgbClr val="4A5568"/>
                </a:solidFill>
              </a:rPr>
              <a:t>centro</a:t>
            </a:r>
            <a:r>
              <a:rPr lang="en-US" sz="2000" dirty="0">
                <a:solidFill>
                  <a:srgbClr val="4A5568"/>
                </a:solidFill>
              </a:rPr>
              <a:t> </a:t>
            </a:r>
            <a:r>
              <a:rPr lang="en-US" sz="2000" dirty="0" err="1">
                <a:solidFill>
                  <a:srgbClr val="4A5568"/>
                </a:solidFill>
              </a:rPr>
              <a:t>aeroespacial</a:t>
            </a:r>
            <a:r>
              <a:rPr lang="en-US" sz="2000" dirty="0">
                <a:solidFill>
                  <a:srgbClr val="4A5568"/>
                </a:solidFill>
              </a:rPr>
              <a:t> </a:t>
            </a:r>
            <a:r>
              <a:rPr lang="en-US" sz="2000" dirty="0" err="1">
                <a:solidFill>
                  <a:srgbClr val="4A5568"/>
                </a:solidFill>
              </a:rPr>
              <a:t>alemán</a:t>
            </a:r>
            <a:endParaRPr lang="en-US" sz="2000" dirty="0">
              <a:solidFill>
                <a:srgbClr val="4A5568"/>
              </a:solidFill>
            </a:endParaRPr>
          </a:p>
          <a:p>
            <a:pPr>
              <a:buSzPct val="100000"/>
            </a:pPr>
            <a:endParaRPr lang="en-US" sz="2000" dirty="0">
              <a:solidFill>
                <a:srgbClr val="4A5568"/>
              </a:solidFill>
            </a:endParaRPr>
          </a:p>
          <a:p>
            <a:pPr>
              <a:buSzPct val="100000"/>
            </a:pPr>
            <a:r>
              <a:rPr lang="en-US" sz="2000" dirty="0" err="1">
                <a:solidFill>
                  <a:srgbClr val="4A5568"/>
                </a:solidFill>
              </a:rPr>
              <a:t>Multiplataforma</a:t>
            </a:r>
            <a:r>
              <a:rPr lang="en-US" sz="2000" dirty="0">
                <a:solidFill>
                  <a:srgbClr val="4A5568"/>
                </a:solidFill>
              </a:rPr>
              <a:t>: </a:t>
            </a:r>
            <a:r>
              <a:rPr lang="en-US" sz="2000" dirty="0" err="1">
                <a:solidFill>
                  <a:srgbClr val="4A5568"/>
                </a:solidFill>
              </a:rPr>
              <a:t>Funciona</a:t>
            </a:r>
            <a:r>
              <a:rPr lang="en-US" sz="2000" dirty="0">
                <a:solidFill>
                  <a:srgbClr val="4A5568"/>
                </a:solidFill>
              </a:rPr>
              <a:t> </a:t>
            </a:r>
            <a:r>
              <a:rPr lang="en-US" sz="2000" dirty="0" err="1">
                <a:solidFill>
                  <a:srgbClr val="4A5568"/>
                </a:solidFill>
              </a:rPr>
              <a:t>en</a:t>
            </a:r>
            <a:r>
              <a:rPr lang="en-US" sz="2000" dirty="0">
                <a:solidFill>
                  <a:srgbClr val="4A5568"/>
                </a:solidFill>
              </a:rPr>
              <a:t> Windows, Linux y macOS</a:t>
            </a:r>
          </a:p>
          <a:p>
            <a:pPr>
              <a:buSzPct val="100000"/>
            </a:pPr>
            <a:endParaRPr lang="en-US" sz="2000" dirty="0">
              <a:solidFill>
                <a:srgbClr val="4A5568"/>
              </a:solidFill>
            </a:endParaRPr>
          </a:p>
          <a:p>
            <a:pPr>
              <a:buSzPct val="100000"/>
            </a:pPr>
            <a:r>
              <a:rPr lang="en-US" sz="2000" dirty="0">
                <a:solidFill>
                  <a:srgbClr val="4A5568"/>
                </a:solidFill>
              </a:rPr>
              <a:t>Multimodal: coches, </a:t>
            </a:r>
            <a:r>
              <a:rPr lang="en-US" sz="2000" dirty="0" err="1">
                <a:solidFill>
                  <a:srgbClr val="4A5568"/>
                </a:solidFill>
              </a:rPr>
              <a:t>autobuses,motocicletas,bicicletas</a:t>
            </a:r>
            <a:r>
              <a:rPr lang="en-US" sz="2000" dirty="0">
                <a:solidFill>
                  <a:srgbClr val="4A5568"/>
                </a:solidFill>
              </a:rPr>
              <a:t>, peatones, </a:t>
            </a:r>
            <a:r>
              <a:rPr lang="en-US" sz="2000" dirty="0" err="1">
                <a:solidFill>
                  <a:srgbClr val="4A5568"/>
                </a:solidFill>
              </a:rPr>
              <a:t>tranvías</a:t>
            </a:r>
            <a:r>
              <a:rPr lang="en-US" sz="2000" dirty="0">
                <a:solidFill>
                  <a:srgbClr val="4A5568"/>
                </a:solidFill>
              </a:rPr>
              <a:t>, </a:t>
            </a:r>
            <a:r>
              <a:rPr lang="en-US" sz="2000" dirty="0" err="1">
                <a:solidFill>
                  <a:srgbClr val="4A5568"/>
                </a:solidFill>
              </a:rPr>
              <a:t>trenes</a:t>
            </a:r>
            <a:r>
              <a:rPr lang="en-US" sz="2000" dirty="0">
                <a:solidFill>
                  <a:srgbClr val="4A5568"/>
                </a:solidFill>
              </a:rPr>
              <a:t>, </a:t>
            </a:r>
            <a:r>
              <a:rPr lang="en-US" sz="2000" dirty="0" err="1">
                <a:solidFill>
                  <a:srgbClr val="4A5568"/>
                </a:solidFill>
              </a:rPr>
              <a:t>etc</a:t>
            </a:r>
            <a:r>
              <a:rPr lang="en-US" sz="2000" dirty="0">
                <a:solidFill>
                  <a:srgbClr val="4A5568"/>
                </a:solidFill>
              </a:rPr>
              <a:t>…</a:t>
            </a:r>
          </a:p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4A5568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F00D33-49E3-7C35-E60E-6467A4CAB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F2ED991-B80A-01B0-70C0-BBC258F9BDF7}"/>
              </a:ext>
            </a:extLst>
          </p:cNvPr>
          <p:cNvSpPr/>
          <p:nvPr/>
        </p:nvSpPr>
        <p:spPr>
          <a:xfrm>
            <a:off x="461357" y="1225508"/>
            <a:ext cx="8288383" cy="86934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Centro Aeroespacial Alemán (DLR) - CIEMAT">
            <a:extLst>
              <a:ext uri="{FF2B5EF4-FFF2-40B4-BE49-F238E27FC236}">
                <a16:creationId xmlns:a16="http://schemas.microsoft.com/office/drawing/2014/main" id="{952ADE88-AA74-5155-4831-8071F4916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557" y="2211406"/>
            <a:ext cx="1852026" cy="106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Tipos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enfoque</a:t>
            </a:r>
            <a:r>
              <a:rPr lang="en-US" sz="2600" b="1" dirty="0">
                <a:solidFill>
                  <a:srgbClr val="FFFFFF"/>
                </a:solidFill>
              </a:rPr>
              <a:t> para la </a:t>
            </a:r>
            <a:r>
              <a:rPr lang="en-US" sz="2600" b="1" dirty="0" err="1">
                <a:solidFill>
                  <a:srgbClr val="FFFFFF"/>
                </a:solidFill>
              </a:rPr>
              <a:t>simulación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tráfico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Macroscópico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2286000" cy="2828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4A5568"/>
                </a:solidFill>
              </a:rPr>
              <a:t>Trata el tráfico como un flujo continuo (densidad, caudal). Rápido, pero sin detalle por </a:t>
            </a:r>
            <a:r>
              <a:rPr lang="en-US" sz="1400" dirty="0" err="1">
                <a:solidFill>
                  <a:srgbClr val="4A5568"/>
                </a:solidFill>
              </a:rPr>
              <a:t>vehículo</a:t>
            </a:r>
            <a:r>
              <a:rPr lang="en-US" sz="1400" dirty="0">
                <a:solidFill>
                  <a:srgbClr val="4A5568"/>
                </a:solidFill>
              </a:rPr>
              <a:t>. E</a:t>
            </a:r>
            <a:r>
              <a:rPr lang="es-ES" sz="1400" dirty="0">
                <a:solidFill>
                  <a:srgbClr val="4A5568"/>
                </a:solidFill>
              </a:rPr>
              <a:t>l tráfico no se modela vehículo por vehículo, sino como un flujo continuo o entidad agregada donde las variables principales son el </a:t>
            </a:r>
            <a:r>
              <a:rPr lang="es-ES" sz="1400" b="1" dirty="0">
                <a:solidFill>
                  <a:srgbClr val="4A5568"/>
                </a:solidFill>
              </a:rPr>
              <a:t>volumen</a:t>
            </a:r>
            <a:r>
              <a:rPr lang="es-ES" sz="1400" dirty="0">
                <a:solidFill>
                  <a:srgbClr val="4A5568"/>
                </a:solidFill>
              </a:rPr>
              <a:t>, la </a:t>
            </a:r>
            <a:r>
              <a:rPr lang="es-ES" sz="1400" b="1" dirty="0">
                <a:solidFill>
                  <a:srgbClr val="4A5568"/>
                </a:solidFill>
              </a:rPr>
              <a:t>densidad </a:t>
            </a:r>
            <a:r>
              <a:rPr lang="es-ES" sz="1400" dirty="0">
                <a:solidFill>
                  <a:srgbClr val="4A5568"/>
                </a:solidFill>
              </a:rPr>
              <a:t>de la </a:t>
            </a:r>
            <a:r>
              <a:rPr lang="es-ES" sz="1400" dirty="0" err="1">
                <a:solidFill>
                  <a:srgbClr val="4A5568"/>
                </a:solidFill>
              </a:rPr>
              <a:t>via</a:t>
            </a:r>
            <a:r>
              <a:rPr lang="es-ES" sz="1400" dirty="0">
                <a:solidFill>
                  <a:srgbClr val="4A5568"/>
                </a:solidFill>
              </a:rPr>
              <a:t> y la </a:t>
            </a:r>
            <a:r>
              <a:rPr lang="es-ES" sz="1400" b="1" dirty="0">
                <a:solidFill>
                  <a:srgbClr val="4A5568"/>
                </a:solidFill>
              </a:rPr>
              <a:t>velocidad media</a:t>
            </a:r>
            <a:r>
              <a:rPr lang="es-ES" sz="1400" dirty="0">
                <a:solidFill>
                  <a:srgbClr val="4A5568"/>
                </a:solidFill>
              </a:rPr>
              <a:t>.</a:t>
            </a:r>
            <a:endParaRPr lang="en-US" sz="1400" dirty="0">
              <a:solidFill>
                <a:srgbClr val="4A5568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28016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Microscópico (SUMO)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057400"/>
            <a:ext cx="2286000" cy="2828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4A5568"/>
                </a:solidFill>
              </a:rPr>
              <a:t>Cada vehículo tiene ruta, velocidad y comportamiento propios: seguimiento y cambio de </a:t>
            </a:r>
            <a:r>
              <a:rPr lang="en-US" sz="1400" dirty="0" err="1">
                <a:solidFill>
                  <a:srgbClr val="4A5568"/>
                </a:solidFill>
              </a:rPr>
              <a:t>carril</a:t>
            </a:r>
            <a:r>
              <a:rPr lang="en-US" sz="1400" dirty="0">
                <a:solidFill>
                  <a:srgbClr val="4A5568"/>
                </a:solidFill>
              </a:rPr>
              <a:t>, </a:t>
            </a:r>
            <a:r>
              <a:rPr lang="en-US" sz="1400" dirty="0" err="1">
                <a:solidFill>
                  <a:srgbClr val="4A5568"/>
                </a:solidFill>
              </a:rPr>
              <a:t>búsqueda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rutas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alternativas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por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atascos</a:t>
            </a:r>
            <a:r>
              <a:rPr lang="en-US" sz="1400" dirty="0">
                <a:solidFill>
                  <a:srgbClr val="4A5568"/>
                </a:solidFill>
              </a:rPr>
              <a:t> u </a:t>
            </a:r>
            <a:r>
              <a:rPr lang="en-US" sz="1400" dirty="0" err="1">
                <a:solidFill>
                  <a:srgbClr val="4A5568"/>
                </a:solidFill>
              </a:rPr>
              <a:t>otro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tipo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bloqueos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en</a:t>
            </a:r>
            <a:r>
              <a:rPr lang="en-US" sz="1400" dirty="0">
                <a:solidFill>
                  <a:srgbClr val="4A5568"/>
                </a:solidFill>
              </a:rPr>
              <a:t> via, </a:t>
            </a:r>
            <a:r>
              <a:rPr lang="en-US" sz="1400" dirty="0" err="1">
                <a:solidFill>
                  <a:srgbClr val="4A5568"/>
                </a:solidFill>
              </a:rPr>
              <a:t>posicionamiento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segundo</a:t>
            </a:r>
            <a:r>
              <a:rPr lang="en-US" sz="1400" dirty="0">
                <a:solidFill>
                  <a:srgbClr val="4A5568"/>
                </a:solidFill>
              </a:rPr>
              <a:t> a </a:t>
            </a:r>
            <a:r>
              <a:rPr lang="en-US" sz="1400" dirty="0" err="1">
                <a:solidFill>
                  <a:srgbClr val="4A5568"/>
                </a:solidFill>
              </a:rPr>
              <a:t>segundo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en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mapa</a:t>
            </a:r>
            <a:r>
              <a:rPr lang="en-US" sz="1400" dirty="0">
                <a:solidFill>
                  <a:srgbClr val="4A5568"/>
                </a:solidFill>
              </a:rPr>
              <a:t>.</a:t>
            </a: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A8B28FD-E205-DDAC-A95E-F55DC97E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  <p:sp>
        <p:nvSpPr>
          <p:cNvPr id="17" name="Text 8"/>
          <p:cNvSpPr txBox="1"/>
          <p:nvPr/>
        </p:nvSpPr>
        <p:spPr>
          <a:xfrm>
            <a:off x="6263640" y="144344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Mesoscópico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92086"/>
            <a:ext cx="2286000" cy="23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ES" sz="1200" dirty="0">
                <a:solidFill>
                  <a:srgbClr val="4A5568"/>
                </a:solidFill>
              </a:rPr>
              <a:t>Se sitúa en la frontera entre la simulación microscópica (vehículo a vehículo con dinámicas de conducción detalladas) y la macroscópica (flujos y densidades agregadas). El simulador utiliza un enfoque basado en colas (</a:t>
            </a:r>
            <a:r>
              <a:rPr lang="es-ES" sz="1200" dirty="0" err="1">
                <a:solidFill>
                  <a:srgbClr val="4A5568"/>
                </a:solidFill>
              </a:rPr>
              <a:t>queues</a:t>
            </a:r>
            <a:r>
              <a:rPr lang="es-ES" sz="1200" dirty="0">
                <a:solidFill>
                  <a:srgbClr val="4A5568"/>
                </a:solidFill>
              </a:rPr>
              <a:t>) donde los vehículos individuales se mueven entre segmentos viales (</a:t>
            </a:r>
            <a:r>
              <a:rPr lang="es-ES" sz="1200" dirty="0" err="1">
                <a:solidFill>
                  <a:srgbClr val="4A5568"/>
                </a:solidFill>
              </a:rPr>
              <a:t>edges</a:t>
            </a:r>
            <a:r>
              <a:rPr lang="es-ES" sz="1200" dirty="0">
                <a:solidFill>
                  <a:srgbClr val="4A5568"/>
                </a:solidFill>
              </a:rPr>
              <a:t>) en lugar de calcular continuamente su aceleración y posición exacta en coordenadas espaciales continuas.</a:t>
            </a:r>
            <a:endParaRPr lang="en-US" sz="1200" dirty="0">
              <a:solidFill>
                <a:srgbClr val="4A556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Posibles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usos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los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datos</a:t>
            </a:r>
            <a:r>
              <a:rPr lang="en-US" sz="2600" b="1" dirty="0">
                <a:solidFill>
                  <a:srgbClr val="FFFFFF"/>
                </a:solidFill>
              </a:rPr>
              <a:t> de la </a:t>
            </a:r>
            <a:r>
              <a:rPr lang="en-US" sz="2600" b="1" dirty="0" err="1">
                <a:solidFill>
                  <a:srgbClr val="FFFFFF"/>
                </a:solidFill>
              </a:rPr>
              <a:t>simulación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516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Semáforos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5773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Optimización y control adaptativo.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1028" y="1371600"/>
            <a:ext cx="18516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1028" y="1371600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68188" y="1554480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Planificación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68188" y="2148840"/>
            <a:ext cx="15773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Congestión y estudios de movilidad urbana.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8954" y="1371600"/>
            <a:ext cx="18516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8954" y="1371600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6114" y="1554480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Emisiones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66114" y="2148840"/>
            <a:ext cx="15773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Consumo de combustible y contaminación.</a:t>
            </a:r>
            <a:endParaRPr lang="en-US" sz="1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E3F79FC-9F6E-521B-DEBE-ADEA18655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Herramientas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principales</a:t>
            </a:r>
            <a:r>
              <a:rPr lang="en-US" sz="2600" b="1" dirty="0">
                <a:solidFill>
                  <a:srgbClr val="FFFFFF"/>
                </a:solidFill>
              </a:rPr>
              <a:t> de SUMO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99" y="1587137"/>
            <a:ext cx="18516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199" y="1587137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59" y="1770017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netconvert / netedit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59" y="2364377"/>
            <a:ext cx="15773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Crean y editan la red viaria y los semáforos. Importan desde OpenStreetMap.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83179" y="1587137"/>
            <a:ext cx="18516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3179" y="1587137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20339" y="1770017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randomTrips / duarouter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20339" y="2364377"/>
            <a:ext cx="15773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Generan la demanda: viajes aleatorios, flujos y rutas de los </a:t>
            </a:r>
            <a:r>
              <a:rPr lang="en-US" sz="1400" dirty="0" err="1">
                <a:solidFill>
                  <a:srgbClr val="4A5568"/>
                </a:solidFill>
              </a:rPr>
              <a:t>vehículos</a:t>
            </a:r>
            <a:r>
              <a:rPr lang="en-US" sz="1400" dirty="0">
                <a:solidFill>
                  <a:srgbClr val="4A5568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Para la </a:t>
            </a:r>
            <a:r>
              <a:rPr lang="en-US" sz="1400" dirty="0" err="1">
                <a:solidFill>
                  <a:srgbClr val="4A5568"/>
                </a:solidFill>
              </a:rPr>
              <a:t>busqueda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rutas</a:t>
            </a:r>
            <a:r>
              <a:rPr lang="en-US" sz="1400" dirty="0">
                <a:solidFill>
                  <a:srgbClr val="4A5568"/>
                </a:solidFill>
              </a:rPr>
              <a:t> se </a:t>
            </a:r>
            <a:r>
              <a:rPr lang="en-US" sz="1400" dirty="0" err="1">
                <a:solidFill>
                  <a:srgbClr val="4A5568"/>
                </a:solidFill>
              </a:rPr>
              <a:t>usa</a:t>
            </a:r>
            <a:r>
              <a:rPr lang="en-US" sz="1400" dirty="0">
                <a:solidFill>
                  <a:srgbClr val="4A5568"/>
                </a:solidFill>
              </a:rPr>
              <a:t> Dijkstra, </a:t>
            </a:r>
            <a:r>
              <a:rPr lang="en-US" sz="1400" dirty="0" err="1">
                <a:solidFill>
                  <a:srgbClr val="4A5568"/>
                </a:solidFill>
              </a:rPr>
              <a:t>busqueda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camino</a:t>
            </a:r>
            <a:r>
              <a:rPr lang="en-US" sz="1400" dirty="0">
                <a:solidFill>
                  <a:srgbClr val="4A5568"/>
                </a:solidFill>
              </a:rPr>
              <a:t> mas </a:t>
            </a:r>
            <a:r>
              <a:rPr lang="en-US" sz="1400" dirty="0" err="1">
                <a:solidFill>
                  <a:srgbClr val="4A5568"/>
                </a:solidFill>
              </a:rPr>
              <a:t>corto</a:t>
            </a:r>
            <a:r>
              <a:rPr lang="en-US" sz="1400" dirty="0">
                <a:solidFill>
                  <a:srgbClr val="4A5568"/>
                </a:solidFill>
              </a:rPr>
              <a:t> entre </a:t>
            </a:r>
            <a:r>
              <a:rPr lang="en-US" sz="1400" dirty="0" err="1">
                <a:solidFill>
                  <a:srgbClr val="4A5568"/>
                </a:solidFill>
              </a:rPr>
              <a:t>nodos</a:t>
            </a:r>
            <a:r>
              <a:rPr lang="en-US" sz="1400" dirty="0">
                <a:solidFill>
                  <a:srgbClr val="4A5568"/>
                </a:solidFill>
              </a:rPr>
              <a:t> de un arbol.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59" y="1587137"/>
            <a:ext cx="18516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59" y="1587137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19" y="1770017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sumo / sumo-gui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19" y="2364377"/>
            <a:ext cx="15773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Ejecutan la simulación, sin interfaz o con visualización gráfica.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35139" y="1587137"/>
            <a:ext cx="18516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5139" y="1587137"/>
            <a:ext cx="18516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72299" y="1770017"/>
            <a:ext cx="1577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TraCI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72299" y="2364377"/>
            <a:ext cx="15773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Interfaz para controlar la simulación en tiempo real desde Python u otros lenguajes.</a:t>
            </a:r>
            <a:endParaRPr lang="en-US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CC19F24-4B0C-76C6-0993-3C716606367F}"/>
              </a:ext>
            </a:extLst>
          </p:cNvPr>
          <p:cNvSpPr txBox="1"/>
          <p:nvPr/>
        </p:nvSpPr>
        <p:spPr>
          <a:xfrm>
            <a:off x="781215" y="986592"/>
            <a:ext cx="7452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4A5568"/>
                </a:solidFill>
              </a:rPr>
              <a:t>SUMO </a:t>
            </a:r>
            <a:r>
              <a:rPr lang="en-US" sz="1800" dirty="0" err="1">
                <a:solidFill>
                  <a:srgbClr val="4A5568"/>
                </a:solidFill>
              </a:rPr>
              <a:t>tiene</a:t>
            </a:r>
            <a:r>
              <a:rPr lang="en-US" sz="1800" dirty="0">
                <a:solidFill>
                  <a:srgbClr val="4A5568"/>
                </a:solidFill>
              </a:rPr>
              <a:t> mas de 250 </a:t>
            </a:r>
            <a:r>
              <a:rPr lang="en-US" sz="1800" dirty="0" err="1">
                <a:solidFill>
                  <a:srgbClr val="4A5568"/>
                </a:solidFill>
              </a:rPr>
              <a:t>herramientas</a:t>
            </a:r>
            <a:r>
              <a:rPr lang="en-US" sz="1800" dirty="0">
                <a:solidFill>
                  <a:srgbClr val="4A5568"/>
                </a:solidFill>
              </a:rPr>
              <a:t>  para la </a:t>
            </a:r>
            <a:r>
              <a:rPr lang="en-US" sz="1800" dirty="0" err="1">
                <a:solidFill>
                  <a:srgbClr val="4A5568"/>
                </a:solidFill>
              </a:rPr>
              <a:t>generación</a:t>
            </a:r>
            <a:r>
              <a:rPr lang="en-US" sz="1800" dirty="0">
                <a:solidFill>
                  <a:srgbClr val="4A5568"/>
                </a:solidFill>
              </a:rPr>
              <a:t> de las </a:t>
            </a:r>
            <a:r>
              <a:rPr lang="en-US" sz="1800" dirty="0" err="1">
                <a:solidFill>
                  <a:srgbClr val="4A5568"/>
                </a:solidFill>
              </a:rPr>
              <a:t>simulaciones</a:t>
            </a:r>
            <a:r>
              <a:rPr lang="en-US" sz="1800" dirty="0">
                <a:solidFill>
                  <a:srgbClr val="4A5568"/>
                </a:solidFill>
              </a:rPr>
              <a:t>.</a:t>
            </a:r>
            <a:endParaRPr lang="en-US" sz="18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53A690F-D055-72A6-F652-FBC3B4850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Flujo de trabajo básico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61240" y="1110343"/>
            <a:ext cx="146304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240" y="1110343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1. Red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1240" y="2070463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OSM + netconvert o netedit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38580" y="1110343"/>
            <a:ext cx="146304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38580" y="1110343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2. Demanda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038580" y="2070463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Rutas, flujos o viajes aleatorios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5920" y="1110343"/>
            <a:ext cx="146304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5920" y="1110343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3. Configuración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15920" y="2070463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Archivo .sumocfg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93260" y="1110343"/>
            <a:ext cx="146304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3260" y="1110343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4. Simulación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93260" y="2070463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sumo o sumo-gui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70600" y="1110343"/>
            <a:ext cx="146304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70600" y="1110343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5. Análisis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70600" y="2070463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4A5568"/>
                </a:solidFill>
              </a:rPr>
              <a:t>Salidas</a:t>
            </a:r>
            <a:r>
              <a:rPr lang="en-US" sz="1300" dirty="0">
                <a:solidFill>
                  <a:srgbClr val="4A5568"/>
                </a:solidFill>
              </a:rPr>
              <a:t> </a:t>
            </a:r>
            <a:r>
              <a:rPr lang="en-US" sz="1300" dirty="0" err="1">
                <a:solidFill>
                  <a:srgbClr val="4A5568"/>
                </a:solidFill>
              </a:rPr>
              <a:t>XML,Parquet</a:t>
            </a:r>
            <a:r>
              <a:rPr lang="en-US" sz="1300" dirty="0">
                <a:solidFill>
                  <a:srgbClr val="4A5568"/>
                </a:solidFill>
              </a:rPr>
              <a:t> o TraCI</a:t>
            </a:r>
            <a:endParaRPr lang="en-US" sz="13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F66007A-FF3E-4CC6-1BD2-AD620488F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885F0D1C-15F9-D7DE-9445-8997DE4AB089}"/>
              </a:ext>
            </a:extLst>
          </p:cNvPr>
          <p:cNvSpPr txBox="1"/>
          <p:nvPr/>
        </p:nvSpPr>
        <p:spPr>
          <a:xfrm>
            <a:off x="457200" y="2984863"/>
            <a:ext cx="7776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4A5568"/>
                </a:solidFill>
              </a:rPr>
              <a:t>Otros</a:t>
            </a:r>
            <a:r>
              <a:rPr lang="en-US" sz="1300" dirty="0">
                <a:solidFill>
                  <a:srgbClr val="4A5568"/>
                </a:solidFill>
              </a:rPr>
              <a:t> </a:t>
            </a:r>
            <a:r>
              <a:rPr lang="en-US" sz="1300" dirty="0" err="1">
                <a:solidFill>
                  <a:srgbClr val="4A5568"/>
                </a:solidFill>
              </a:rPr>
              <a:t>datos</a:t>
            </a:r>
            <a:r>
              <a:rPr lang="en-US" sz="1300" dirty="0">
                <a:solidFill>
                  <a:srgbClr val="4A5568"/>
                </a:solidFill>
              </a:rPr>
              <a:t> que </a:t>
            </a:r>
            <a:r>
              <a:rPr lang="en-US" sz="1300" dirty="0" err="1">
                <a:solidFill>
                  <a:srgbClr val="4A5568"/>
                </a:solidFill>
              </a:rPr>
              <a:t>podemos</a:t>
            </a:r>
            <a:r>
              <a:rPr lang="en-US" sz="1300" dirty="0">
                <a:solidFill>
                  <a:srgbClr val="4A5568"/>
                </a:solidFill>
              </a:rPr>
              <a:t> </a:t>
            </a:r>
            <a:r>
              <a:rPr lang="en-US" sz="1300" dirty="0" err="1">
                <a:solidFill>
                  <a:srgbClr val="4A5568"/>
                </a:solidFill>
              </a:rPr>
              <a:t>añadir</a:t>
            </a:r>
            <a:r>
              <a:rPr lang="en-US" sz="1300" dirty="0">
                <a:solidFill>
                  <a:srgbClr val="4A5568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solidFill>
                  <a:srgbClr val="4A5568"/>
                </a:solidFill>
              </a:rPr>
              <a:t>Matrices </a:t>
            </a:r>
            <a:r>
              <a:rPr lang="en-US" sz="1300" dirty="0" err="1">
                <a:solidFill>
                  <a:srgbClr val="4A5568"/>
                </a:solidFill>
              </a:rPr>
              <a:t>origen-destino</a:t>
            </a:r>
            <a:endParaRPr lang="en-US" sz="1300" dirty="0">
              <a:solidFill>
                <a:srgbClr val="4A5568"/>
              </a:solidFill>
            </a:endParaRPr>
          </a:p>
          <a:p>
            <a:pPr marL="285750" indent="-285750">
              <a:buFontTx/>
              <a:buChar char="-"/>
            </a:pPr>
            <a:endParaRPr lang="en-US" sz="1300" dirty="0">
              <a:solidFill>
                <a:srgbClr val="4A5568"/>
              </a:solidFill>
            </a:endParaRPr>
          </a:p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Visualización</a:t>
            </a:r>
            <a:r>
              <a:rPr lang="en-US" sz="2600" b="1" dirty="0">
                <a:solidFill>
                  <a:srgbClr val="FFFFFF"/>
                </a:solidFill>
              </a:rPr>
              <a:t> Twin</a:t>
            </a:r>
            <a:endParaRPr lang="en-US" sz="2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2D69B0D-FB73-B537-BDAC-6C0FD2636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  <p:extLst>
      <p:ext uri="{BB962C8B-B14F-4D97-AF65-F5344CB8AC3E}">
        <p14:creationId xmlns:p14="http://schemas.microsoft.com/office/powerpoint/2010/main" val="10648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Caso práctico: Pamplona (Navarra)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Objetivo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Simular el tráfico de Pamplona a partir de datos abiertos de OpenStreetMap.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Zona de estudio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57400"/>
            <a:ext cx="2286000" cy="158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Pamplona, barrios y </a:t>
            </a:r>
            <a:r>
              <a:rPr lang="en-US" sz="1400" dirty="0" err="1">
                <a:solidFill>
                  <a:srgbClr val="4A5568"/>
                </a:solidFill>
              </a:rPr>
              <a:t>rondas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circunvalación</a:t>
            </a:r>
            <a:r>
              <a:rPr lang="en-US" sz="1400" dirty="0">
                <a:solidFill>
                  <a:srgbClr val="4A5568"/>
                </a:solidFill>
              </a:rPr>
              <a:t>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Escenario posible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5740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Cortar calles (por ejemplo, durante San Fermín) y ver cómo se redistribuye el tráfico.</a:t>
            </a:r>
            <a:endParaRPr lang="en-US" sz="14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2D69B0D-FB73-B537-BDAC-6C0FD2636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Instalación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19" y="914400"/>
            <a:ext cx="8288383" cy="3905794"/>
          </a:xfrm>
          <a:prstGeom prst="rect">
            <a:avLst/>
          </a:prstGeom>
          <a:noFill/>
          <a:ln w="12700">
            <a:solidFill>
              <a:srgbClr val="D5DDE6"/>
            </a:solidFill>
          </a:ln>
        </p:spPr>
        <p:txBody>
          <a:bodyPr wrap="square" rtlCol="0" anchor="t"/>
          <a:lstStyle/>
          <a:p>
            <a:pPr marL="342900" indent="-342900">
              <a:buSzPct val="100000"/>
              <a:buFontTx/>
              <a:buChar char="•"/>
            </a:pPr>
            <a:r>
              <a:rPr lang="es-ES" sz="2000" dirty="0">
                <a:solidFill>
                  <a:srgbClr val="4A5568"/>
                </a:solidFill>
              </a:rPr>
              <a:t>Ruta de instalación</a:t>
            </a:r>
          </a:p>
          <a:p>
            <a:pPr marL="800100" lvl="1" indent="-342900">
              <a:buSzPct val="100000"/>
              <a:buFontTx/>
              <a:buChar char="•"/>
            </a:pPr>
            <a:r>
              <a:rPr lang="en-US" sz="2000" dirty="0">
                <a:hlinkClick r:id="rId3"/>
              </a:rPr>
              <a:t>https://sumo.dlr.de/docs/Downloads.php</a:t>
            </a:r>
            <a:endParaRPr lang="en-US" sz="2000" dirty="0"/>
          </a:p>
          <a:p>
            <a:pPr marL="342900" indent="-342900">
              <a:buSzPct val="100000"/>
              <a:buFontTx/>
              <a:buChar char="•"/>
            </a:pPr>
            <a:endParaRPr lang="en-US" sz="2000" dirty="0"/>
          </a:p>
          <a:p>
            <a:pPr marL="342900" indent="-342900">
              <a:buSzPct val="100000"/>
              <a:buFontTx/>
              <a:buChar char="•"/>
            </a:pPr>
            <a:r>
              <a:rPr lang="en-US" sz="2000" dirty="0"/>
              <a:t>Windows</a:t>
            </a:r>
          </a:p>
          <a:p>
            <a:pPr marL="800100" lvl="1" indent="-342900">
              <a:buSzPct val="100000"/>
              <a:buFontTx/>
              <a:buChar char="•"/>
            </a:pPr>
            <a:r>
              <a:rPr lang="en-US" sz="2000" dirty="0" err="1"/>
              <a:t>Instalador</a:t>
            </a:r>
            <a:r>
              <a:rPr lang="en-US" sz="2000" dirty="0"/>
              <a:t> </a:t>
            </a:r>
            <a:r>
              <a:rPr lang="en-US" sz="2000" dirty="0" err="1"/>
              <a:t>msi</a:t>
            </a:r>
            <a:endParaRPr lang="en-US" sz="2000" dirty="0"/>
          </a:p>
          <a:p>
            <a:pPr marL="800100" lvl="1" indent="-342900">
              <a:buSzPct val="100000"/>
              <a:buFontTx/>
              <a:buChar char="•"/>
            </a:pPr>
            <a:r>
              <a:rPr lang="en-US" sz="2000" dirty="0"/>
              <a:t>Zip:</a:t>
            </a:r>
          </a:p>
          <a:p>
            <a:pPr marL="1257300" lvl="2" indent="-342900">
              <a:buSzPct val="100000"/>
              <a:buFontTx/>
              <a:buChar char="•"/>
            </a:pPr>
            <a:r>
              <a:rPr lang="en-US" sz="2000" dirty="0" err="1"/>
              <a:t>Descomprimir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un </a:t>
            </a:r>
            <a:r>
              <a:rPr lang="en-US" sz="2000" dirty="0" err="1"/>
              <a:t>ruta</a:t>
            </a:r>
            <a:r>
              <a:rPr lang="en-US" sz="2000" dirty="0"/>
              <a:t> </a:t>
            </a:r>
          </a:p>
          <a:p>
            <a:pPr marL="1257300" lvl="2" indent="-342900">
              <a:buSzPct val="100000"/>
              <a:buFontTx/>
              <a:buChar char="•"/>
            </a:pPr>
            <a:r>
              <a:rPr lang="es-ES" sz="2000" dirty="0"/>
              <a:t>SUMO_HOME=C:\Proyectos\01_SUMO\sumo-1.28.0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s-ES" sz="2000" dirty="0"/>
              <a:t>Linux</a:t>
            </a:r>
          </a:p>
          <a:p>
            <a:pPr marL="800100" lvl="1" indent="-342900">
              <a:buSzPct val="100000"/>
              <a:buFontTx/>
              <a:buChar char="•"/>
            </a:pPr>
            <a:r>
              <a:rPr lang="es-ES" sz="2000" b="0" i="0" dirty="0">
                <a:effectLst/>
                <a:latin typeface="SFMono-Regular"/>
              </a:rPr>
              <a:t>sudo </a:t>
            </a:r>
            <a:r>
              <a:rPr lang="es-ES" sz="2000" b="0" i="0" dirty="0" err="1">
                <a:effectLst/>
                <a:latin typeface="SFMono-Regular"/>
              </a:rPr>
              <a:t>add-apt-repository</a:t>
            </a:r>
            <a:r>
              <a:rPr lang="es-ES" sz="2000" b="0" i="0" dirty="0">
                <a:effectLst/>
                <a:latin typeface="SFMono-Regular"/>
              </a:rPr>
              <a:t> </a:t>
            </a:r>
            <a:r>
              <a:rPr lang="es-ES" sz="2000" b="0" i="0" dirty="0" err="1">
                <a:effectLst/>
                <a:latin typeface="SFMono-Regular"/>
              </a:rPr>
              <a:t>ppa:sumo</a:t>
            </a:r>
            <a:r>
              <a:rPr lang="es-ES" sz="2000" b="0" i="0" dirty="0">
                <a:effectLst/>
                <a:latin typeface="SFMono-Regular"/>
              </a:rPr>
              <a:t>/</a:t>
            </a:r>
            <a:r>
              <a:rPr lang="es-ES" sz="2000" b="0" i="0" dirty="0" err="1">
                <a:effectLst/>
                <a:latin typeface="SFMono-Regular"/>
              </a:rPr>
              <a:t>stable</a:t>
            </a:r>
            <a:r>
              <a:rPr lang="es-ES" sz="2000" b="0" i="0" dirty="0">
                <a:effectLst/>
                <a:latin typeface="SFMono-Regular"/>
              </a:rPr>
              <a:t> </a:t>
            </a:r>
          </a:p>
          <a:p>
            <a:pPr marL="800100" lvl="1" indent="-342900">
              <a:buSzPct val="100000"/>
              <a:buFontTx/>
              <a:buChar char="•"/>
            </a:pPr>
            <a:r>
              <a:rPr lang="es-ES" sz="2000" b="0" i="0" dirty="0">
                <a:effectLst/>
                <a:latin typeface="SFMono-Regular"/>
              </a:rPr>
              <a:t>sudo </a:t>
            </a:r>
            <a:r>
              <a:rPr lang="es-ES" sz="2000" b="0" i="0" dirty="0" err="1">
                <a:effectLst/>
                <a:latin typeface="SFMono-Regular"/>
              </a:rPr>
              <a:t>apt-get</a:t>
            </a:r>
            <a:r>
              <a:rPr lang="es-ES" sz="2000" b="0" i="0" dirty="0">
                <a:effectLst/>
                <a:latin typeface="SFMono-Regular"/>
              </a:rPr>
              <a:t> </a:t>
            </a:r>
            <a:r>
              <a:rPr lang="es-ES" sz="2000" b="0" i="0" dirty="0" err="1">
                <a:effectLst/>
                <a:latin typeface="SFMono-Regular"/>
              </a:rPr>
              <a:t>update</a:t>
            </a:r>
            <a:r>
              <a:rPr lang="es-ES" sz="2000" b="0" i="0" dirty="0">
                <a:effectLst/>
                <a:latin typeface="SFMono-Regular"/>
              </a:rPr>
              <a:t> sudo </a:t>
            </a:r>
          </a:p>
          <a:p>
            <a:pPr marL="800100" lvl="1" indent="-342900">
              <a:buSzPct val="100000"/>
              <a:buFontTx/>
              <a:buChar char="•"/>
            </a:pPr>
            <a:r>
              <a:rPr lang="es-ES" sz="2000" b="0" i="0" dirty="0" err="1">
                <a:effectLst/>
                <a:latin typeface="SFMono-Regular"/>
              </a:rPr>
              <a:t>apt-get</a:t>
            </a:r>
            <a:r>
              <a:rPr lang="es-ES" sz="2000" b="0" i="0" dirty="0">
                <a:effectLst/>
                <a:latin typeface="SFMono-Regular"/>
              </a:rPr>
              <a:t> </a:t>
            </a:r>
            <a:r>
              <a:rPr lang="es-ES" sz="2000" b="0" i="0" dirty="0" err="1">
                <a:effectLst/>
                <a:latin typeface="SFMono-Regular"/>
              </a:rPr>
              <a:t>install</a:t>
            </a:r>
            <a:r>
              <a:rPr lang="es-ES" sz="2000" b="0" i="0" dirty="0">
                <a:effectLst/>
                <a:latin typeface="SFMono-Regular"/>
              </a:rPr>
              <a:t> sumo sumo-</a:t>
            </a:r>
            <a:r>
              <a:rPr lang="es-ES" sz="2000" b="0" i="0" dirty="0" err="1">
                <a:effectLst/>
                <a:latin typeface="SFMono-Regular"/>
              </a:rPr>
              <a:t>tools</a:t>
            </a:r>
            <a:r>
              <a:rPr lang="es-ES" sz="2000" b="0" i="0" dirty="0">
                <a:effectLst/>
                <a:latin typeface="SFMono-Regular"/>
              </a:rPr>
              <a:t> sumo-</a:t>
            </a:r>
            <a:r>
              <a:rPr lang="es-ES" sz="2000" b="0" i="0" dirty="0" err="1">
                <a:effectLst/>
                <a:latin typeface="SFMono-Regular"/>
              </a:rPr>
              <a:t>doc</a:t>
            </a: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F00D33-49E3-7C35-E60E-6467A4CAB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B2A0E82-D2A8-4670-C307-8504373B3F12}"/>
              </a:ext>
            </a:extLst>
          </p:cNvPr>
          <p:cNvSpPr/>
          <p:nvPr/>
        </p:nvSpPr>
        <p:spPr>
          <a:xfrm>
            <a:off x="502919" y="914401"/>
            <a:ext cx="8288383" cy="7184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219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16D6091-5BA4-C6CF-B043-57517D67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354" y="1038497"/>
            <a:ext cx="4291891" cy="306937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Creación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una</a:t>
            </a:r>
            <a:r>
              <a:rPr lang="en-US" sz="2600" b="1" dirty="0">
                <a:solidFill>
                  <a:srgbClr val="FFFFFF"/>
                </a:solidFill>
              </a:rPr>
              <a:t> red vial</a:t>
            </a:r>
            <a:endParaRPr lang="en-US" sz="2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CB68D4-E6E3-E651-DCF0-9251A8D9F9F4}"/>
              </a:ext>
            </a:extLst>
          </p:cNvPr>
          <p:cNvSpPr txBox="1"/>
          <p:nvPr/>
        </p:nvSpPr>
        <p:spPr>
          <a:xfrm>
            <a:off x="248195" y="927463"/>
            <a:ext cx="462167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Una red vial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Creada a mano con </a:t>
            </a:r>
            <a:r>
              <a:rPr lang="es-ES_tradnl" sz="2000" dirty="0" err="1">
                <a:solidFill>
                  <a:srgbClr val="4A5568"/>
                </a:solidFill>
              </a:rPr>
              <a:t>netedit</a:t>
            </a:r>
            <a:endParaRPr lang="es-ES_tradnl" sz="2000" dirty="0">
              <a:solidFill>
                <a:srgbClr val="4A5568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Obtenida de Open Street </a:t>
            </a:r>
            <a:r>
              <a:rPr lang="es-ES_tradnl" sz="2000" dirty="0" err="1">
                <a:solidFill>
                  <a:srgbClr val="4A5568"/>
                </a:solidFill>
              </a:rPr>
              <a:t>Map</a:t>
            </a:r>
            <a:r>
              <a:rPr lang="es-ES_tradnl" sz="2000" dirty="0">
                <a:solidFill>
                  <a:srgbClr val="4A5568"/>
                </a:solidFill>
              </a:rPr>
              <a:t>(OMS) u otras fuentes</a:t>
            </a:r>
          </a:p>
          <a:p>
            <a:endParaRPr lang="es-ES_tradnl" sz="1200" dirty="0">
              <a:solidFill>
                <a:srgbClr val="4A556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400" dirty="0">
                <a:solidFill>
                  <a:srgbClr val="4A5568"/>
                </a:solidFill>
              </a:rPr>
              <a:t>osmWebWizard.py, osmGet.py </a:t>
            </a:r>
            <a:r>
              <a:rPr lang="es-ES_tradnl" sz="1400" dirty="0">
                <a:solidFill>
                  <a:srgbClr val="4A5568"/>
                </a:solidFill>
                <a:hlinkClick r:id="rId4"/>
              </a:rPr>
              <a:t>https://sumo.dlr.de/docs/Tutorials/OSMWebWizard.html</a:t>
            </a:r>
            <a:br>
              <a:rPr lang="es-ES_tradnl" sz="1400" dirty="0">
                <a:solidFill>
                  <a:srgbClr val="4A5568"/>
                </a:solidFill>
              </a:rPr>
            </a:br>
            <a:endParaRPr lang="es-ES_tradnl" sz="1400" dirty="0">
              <a:solidFill>
                <a:srgbClr val="4A556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4A5568"/>
                </a:solidFill>
              </a:rPr>
              <a:t>wget</a:t>
            </a:r>
            <a:r>
              <a:rPr lang="pt-BR" sz="1400" dirty="0">
                <a:solidFill>
                  <a:srgbClr val="4A5568"/>
                </a:solidFill>
              </a:rPr>
              <a:t> -O </a:t>
            </a:r>
            <a:r>
              <a:rPr lang="pt-BR" sz="1400" dirty="0" err="1">
                <a:solidFill>
                  <a:srgbClr val="4A5568"/>
                </a:solidFill>
              </a:rPr>
              <a:t>pamplona.osm</a:t>
            </a:r>
            <a:r>
              <a:rPr lang="pt-BR" sz="1400" dirty="0">
                <a:solidFill>
                  <a:srgbClr val="4A5568"/>
                </a:solidFill>
              </a:rPr>
              <a:t> </a:t>
            </a:r>
            <a:r>
              <a:rPr lang="pt-BR" sz="1400" dirty="0">
                <a:solidFill>
                  <a:srgbClr val="4A5568"/>
                </a:solidFill>
                <a:hlinkClick r:id="rId5"/>
              </a:rPr>
              <a:t>https://overpass-api.de/api/map?bbox=-1.70,42.77,-1.59,42.85</a:t>
            </a:r>
            <a:endParaRPr lang="pt-BR" sz="1400" dirty="0">
              <a:solidFill>
                <a:srgbClr val="4A556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u="sng" dirty="0">
              <a:solidFill>
                <a:srgbClr val="4A5568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76B787-9DC5-CBFE-C082-43E7B13F1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  <p:extLst>
      <p:ext uri="{BB962C8B-B14F-4D97-AF65-F5344CB8AC3E}">
        <p14:creationId xmlns:p14="http://schemas.microsoft.com/office/powerpoint/2010/main" val="255442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Crear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mapa</a:t>
            </a:r>
            <a:r>
              <a:rPr lang="en-US" sz="2600" b="1" dirty="0">
                <a:solidFill>
                  <a:srgbClr val="FFFFFF"/>
                </a:solidFill>
              </a:rPr>
              <a:t> de Pamplona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638006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Descargar el mapa de Pamplona (bbox: oeste, sur, este, norte)</a:t>
            </a:r>
            <a:endParaRPr lang="en-US" sz="1200" dirty="0"/>
          </a:p>
          <a:p>
            <a:pPr marL="0" indent="0">
              <a:buNone/>
            </a:pPr>
            <a:r>
              <a:rPr lang="pt-BR" sz="12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</a:t>
            </a:r>
            <a:r>
              <a:rPr lang="pt-BR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-O </a:t>
            </a:r>
            <a:r>
              <a:rPr lang="pt-BR" sz="12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pamplona.osm</a:t>
            </a:r>
            <a:r>
              <a:rPr lang="pt-BR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"https://overpass-api.de/api/</a:t>
            </a:r>
            <a:r>
              <a:rPr lang="pt-BR" sz="12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map?bbox</a:t>
            </a:r>
            <a:r>
              <a:rPr lang="pt-BR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=-1.72361,42.76307,-1.54817,42.84873"</a:t>
            </a:r>
            <a:endParaRPr lang="en-US" sz="1200" dirty="0">
              <a:solidFill>
                <a:srgbClr val="7F849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7F849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Convertir a red de SUMO </a:t>
            </a:r>
          </a:p>
          <a:p>
            <a:r>
              <a:rPr lang="en-US" sz="1100" dirty="0">
                <a:solidFill>
                  <a:srgbClr val="7F849C"/>
                </a:solidFill>
                <a:latin typeface="Consolas" pitchFamily="34" charset="0"/>
              </a:rPr>
              <a:t>#Conservar vias </a:t>
            </a:r>
            <a:r>
              <a:rPr lang="en-US" sz="1100" dirty="0" err="1">
                <a:solidFill>
                  <a:srgbClr val="7F849C"/>
                </a:solidFill>
                <a:latin typeface="Consolas" pitchFamily="34" charset="0"/>
              </a:rPr>
              <a:t>por</a:t>
            </a:r>
            <a:r>
              <a:rPr lang="en-US" sz="1100" dirty="0">
                <a:solidFill>
                  <a:srgbClr val="7F849C"/>
                </a:solidFill>
                <a:latin typeface="Consolas" pitchFamily="34" charset="0"/>
              </a:rPr>
              <a:t> </a:t>
            </a:r>
            <a:r>
              <a:rPr lang="en-US" sz="1100" dirty="0" err="1">
                <a:solidFill>
                  <a:srgbClr val="7F849C"/>
                </a:solidFill>
                <a:latin typeface="Consolas" pitchFamily="34" charset="0"/>
              </a:rPr>
              <a:t>tipo</a:t>
            </a:r>
            <a:r>
              <a:rPr lang="en-US" sz="1100" dirty="0">
                <a:solidFill>
                  <a:srgbClr val="7F849C"/>
                </a:solidFill>
                <a:latin typeface="Consolas" pitchFamily="34" charset="0"/>
              </a:rPr>
              <a:t> de </a:t>
            </a:r>
            <a:r>
              <a:rPr lang="en-US" sz="1100" dirty="0" err="1">
                <a:solidFill>
                  <a:srgbClr val="7F849C"/>
                </a:solidFill>
                <a:latin typeface="Consolas" pitchFamily="34" charset="0"/>
              </a:rPr>
              <a:t>vehiculo</a:t>
            </a:r>
            <a:r>
              <a:rPr lang="en-US" sz="1100" dirty="0">
                <a:solidFill>
                  <a:srgbClr val="7F849C"/>
                </a:solidFill>
                <a:latin typeface="Consolas" pitchFamily="34" charset="0"/>
              </a:rPr>
              <a:t> que </a:t>
            </a:r>
            <a:r>
              <a:rPr lang="en-US" sz="1100" dirty="0" err="1">
                <a:solidFill>
                  <a:srgbClr val="7F849C"/>
                </a:solidFill>
                <a:latin typeface="Consolas" pitchFamily="34" charset="0"/>
              </a:rPr>
              <a:t>circula</a:t>
            </a:r>
            <a:r>
              <a:rPr lang="en-US" sz="1100" dirty="0">
                <a:solidFill>
                  <a:srgbClr val="7F849C"/>
                </a:solidFill>
                <a:latin typeface="Consolas" pitchFamily="34" charset="0"/>
              </a:rPr>
              <a:t> </a:t>
            </a:r>
            <a:r>
              <a:rPr lang="en-US" sz="1100" dirty="0" err="1">
                <a:solidFill>
                  <a:srgbClr val="7F849C"/>
                </a:solidFill>
                <a:latin typeface="Consolas" pitchFamily="34" charset="0"/>
              </a:rPr>
              <a:t>por</a:t>
            </a:r>
            <a:r>
              <a:rPr lang="en-US" sz="1100" dirty="0">
                <a:solidFill>
                  <a:srgbClr val="7F849C"/>
                </a:solidFill>
                <a:latin typeface="Consolas" pitchFamily="34" charset="0"/>
              </a:rPr>
              <a:t> </a:t>
            </a:r>
            <a:r>
              <a:rPr lang="en-US" sz="1100" dirty="0" err="1">
                <a:solidFill>
                  <a:srgbClr val="7F849C"/>
                </a:solidFill>
                <a:latin typeface="Consolas" pitchFamily="34" charset="0"/>
              </a:rPr>
              <a:t>ella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netconvert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</a:t>
            </a:r>
            <a:r>
              <a:rPr lang="en-US" sz="11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-files </a:t>
            </a:r>
            <a:r>
              <a:rPr lang="en-US" sz="11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pamplona.osm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--output-file pamplona.net.xml  --remove-</a:t>
            </a:r>
            <a:r>
              <a:rPr lang="en-US" sz="11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edges.isolated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--keep-edges.by-</a:t>
            </a:r>
            <a:r>
              <a:rPr lang="en-US" sz="11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vclass</a:t>
            </a: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passenger</a:t>
            </a:r>
          </a:p>
          <a:p>
            <a:pPr marL="0" indent="0">
              <a:buNone/>
            </a:pPr>
            <a:endParaRPr lang="en-US" sz="1200" dirty="0">
              <a:solidFill>
                <a:srgbClr val="7F849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795DF5-CB45-01CC-992C-BF241DC8F537}"/>
              </a:ext>
            </a:extLst>
          </p:cNvPr>
          <p:cNvSpPr txBox="1"/>
          <p:nvPr/>
        </p:nvSpPr>
        <p:spPr>
          <a:xfrm>
            <a:off x="457200" y="4728753"/>
            <a:ext cx="687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4A5568"/>
                </a:solidFill>
              </a:rPr>
              <a:t>Los </a:t>
            </a:r>
            <a:r>
              <a:rPr lang="en-US" sz="1800" dirty="0" err="1">
                <a:solidFill>
                  <a:srgbClr val="4A5568"/>
                </a:solidFill>
              </a:rPr>
              <a:t>archivos</a:t>
            </a:r>
            <a:r>
              <a:rPr lang="en-US" sz="1800" dirty="0">
                <a:solidFill>
                  <a:srgbClr val="4A5568"/>
                </a:solidFill>
              </a:rPr>
              <a:t> .net.xml (red) y .rou.xml (</a:t>
            </a:r>
            <a:r>
              <a:rPr lang="en-US" sz="1800" dirty="0" err="1">
                <a:solidFill>
                  <a:srgbClr val="4A5568"/>
                </a:solidFill>
              </a:rPr>
              <a:t>rutas</a:t>
            </a:r>
            <a:r>
              <a:rPr lang="en-US" sz="1800" dirty="0">
                <a:solidFill>
                  <a:srgbClr val="4A5568"/>
                </a:solidFill>
              </a:rPr>
              <a:t>) se </a:t>
            </a:r>
            <a:r>
              <a:rPr lang="en-US" sz="1800" dirty="0" err="1">
                <a:solidFill>
                  <a:srgbClr val="4A5568"/>
                </a:solidFill>
              </a:rPr>
              <a:t>enlazan</a:t>
            </a:r>
            <a:r>
              <a:rPr lang="en-US" sz="1800" dirty="0">
                <a:solidFill>
                  <a:srgbClr val="4A5568"/>
                </a:solidFill>
              </a:rPr>
              <a:t> </a:t>
            </a:r>
            <a:r>
              <a:rPr lang="en-US" sz="1800" dirty="0" err="1">
                <a:solidFill>
                  <a:srgbClr val="4A5568"/>
                </a:solidFill>
              </a:rPr>
              <a:t>en</a:t>
            </a:r>
            <a:r>
              <a:rPr lang="en-US" sz="1800" dirty="0">
                <a:solidFill>
                  <a:srgbClr val="4A5568"/>
                </a:solidFill>
              </a:rPr>
              <a:t> un .</a:t>
            </a:r>
            <a:r>
              <a:rPr lang="en-US" sz="1800" dirty="0" err="1">
                <a:solidFill>
                  <a:srgbClr val="4A5568"/>
                </a:solidFill>
              </a:rPr>
              <a:t>sumocfg</a:t>
            </a:r>
            <a:r>
              <a:rPr lang="en-US" sz="1800" dirty="0">
                <a:solidFill>
                  <a:srgbClr val="4A5568"/>
                </a:solidFill>
              </a:rPr>
              <a:t>.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F6E210A-AC75-BBBD-05F9-575C0F8C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16D6091-5BA4-C6CF-B043-57517D67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646" y="1038497"/>
            <a:ext cx="4800599" cy="34331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Creación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una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demanda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vehículos</a:t>
            </a:r>
            <a:endParaRPr lang="en-US" sz="2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CB68D4-E6E3-E651-DCF0-9251A8D9F9F4}"/>
              </a:ext>
            </a:extLst>
          </p:cNvPr>
          <p:cNvSpPr txBox="1"/>
          <p:nvPr/>
        </p:nvSpPr>
        <p:spPr>
          <a:xfrm>
            <a:off x="248195" y="927463"/>
            <a:ext cx="40821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Añadir tráfico de vehículos sobre las red que vayamos a usar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_tradnl" sz="2000" dirty="0">
              <a:solidFill>
                <a:srgbClr val="4A556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randomTrips.py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Tipos de “viajes”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Vehículos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Viajes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Flujos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Dijkstra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dirty="0">
                <a:solidFill>
                  <a:srgbClr val="4A5568"/>
                </a:solidFill>
              </a:rPr>
              <a:t>Pesos(</a:t>
            </a:r>
            <a:r>
              <a:rPr lang="es-ES_tradnl" sz="2000" dirty="0" err="1">
                <a:solidFill>
                  <a:srgbClr val="4A5568"/>
                </a:solidFill>
              </a:rPr>
              <a:t>weights</a:t>
            </a:r>
            <a:r>
              <a:rPr lang="es-ES_tradnl" sz="2000" dirty="0">
                <a:solidFill>
                  <a:srgbClr val="4A5568"/>
                </a:solidFill>
              </a:rPr>
              <a:t>)</a:t>
            </a:r>
            <a:endParaRPr lang="es-ES" sz="2000" dirty="0">
              <a:solidFill>
                <a:srgbClr val="4A5568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642FC9-0427-3B2B-0093-B17F0F526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  <p:extLst>
      <p:ext uri="{BB962C8B-B14F-4D97-AF65-F5344CB8AC3E}">
        <p14:creationId xmlns:p14="http://schemas.microsoft.com/office/powerpoint/2010/main" val="1670911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Creación</a:t>
            </a:r>
            <a:r>
              <a:rPr lang="en-US" sz="2600" b="1" dirty="0">
                <a:solidFill>
                  <a:srgbClr val="FFFFFF"/>
                </a:solidFill>
              </a:rPr>
              <a:t> de la </a:t>
            </a:r>
            <a:r>
              <a:rPr lang="en-US" sz="2600" b="1" dirty="0" err="1">
                <a:solidFill>
                  <a:srgbClr val="FFFFFF"/>
                </a:solidFill>
              </a:rPr>
              <a:t>demanda</a:t>
            </a:r>
            <a:r>
              <a:rPr lang="en-US" sz="2600" b="1" dirty="0">
                <a:solidFill>
                  <a:srgbClr val="FFFFFF"/>
                </a:solidFill>
              </a:rPr>
              <a:t> de </a:t>
            </a:r>
            <a:r>
              <a:rPr lang="en-US" sz="2600" b="1" dirty="0" err="1">
                <a:solidFill>
                  <a:srgbClr val="FFFFFF"/>
                </a:solidFill>
              </a:rPr>
              <a:t>vehiculos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79"/>
            <a:ext cx="8229600" cy="3285309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19"/>
            <a:ext cx="7863840" cy="30958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</a:t>
            </a:r>
            <a:r>
              <a:rPr lang="en-US" sz="1600" dirty="0" err="1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Generar</a:t>
            </a:r>
            <a:r>
              <a:rPr lang="en-US" sz="16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 </a:t>
            </a:r>
            <a:r>
              <a:rPr lang="en-US" sz="1600" dirty="0" err="1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minutos</a:t>
            </a:r>
            <a:r>
              <a:rPr lang="en-US" sz="16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</a:t>
            </a:r>
            <a:r>
              <a:rPr lang="en-US" sz="1600" dirty="0" err="1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tráfico</a:t>
            </a:r>
            <a:r>
              <a:rPr lang="en-US" sz="16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 err="1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aleatorio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r>
              <a:rPr lang="es-E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C:\Proyectos\01_SUMO\sumo-1.28.0\tools</a:t>
            </a: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\randomTrips.py -n pamplona.net.xml -r pamplona.rou.xml -e 3600 --period 1 --fringe-factor 1  --validate</a:t>
            </a: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rgbClr val="7F849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</a:t>
            </a:r>
            <a:r>
              <a:rPr lang="en-US" sz="1600" dirty="0" err="1">
                <a:solidFill>
                  <a:srgbClr val="7F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sumo -n pamplona.net.xml -r pamplona.rou.xml --emission-output emissions.xml --</a:t>
            </a:r>
            <a:r>
              <a:rPr lang="en-US" sz="16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edgedata</a:t>
            </a: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-output traffic.xml --</a:t>
            </a:r>
            <a:r>
              <a:rPr lang="en-US" sz="16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fcd</a:t>
            </a: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-output fcd.xml </a:t>
            </a:r>
          </a:p>
          <a:p>
            <a:pPr marL="0" indent="0">
              <a:buNone/>
            </a:pPr>
            <a:endParaRPr lang="en-US" sz="1600" dirty="0">
              <a:solidFill>
                <a:srgbClr val="A6E3A1"/>
              </a:solidFill>
              <a:latin typeface="Consolas" pitchFamily="34" charset="0"/>
            </a:endParaRPr>
          </a:p>
          <a:p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sumo-</a:t>
            </a:r>
            <a:r>
              <a:rPr lang="en-US" sz="14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-n pamplona.net.xml -r pamplona.rou.xml --emission-output emissions.xml --</a:t>
            </a:r>
            <a:r>
              <a:rPr lang="en-US" sz="14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edgedata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-output traffic.xml --</a:t>
            </a:r>
            <a:r>
              <a:rPr lang="en-US" sz="1400" dirty="0" err="1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fcd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-output fcd.xml </a:t>
            </a:r>
            <a:endParaRPr lang="en-US" sz="14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7402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Los archivos .net.xml (red) y .rou.xml (rutas) se enlazan en un .sumocfg.</a:t>
            </a:r>
            <a:endParaRPr lang="en-US" sz="1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DE4C85-956E-A9E1-927F-BB5018899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TraCI: controlar SUMO desde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26517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traci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traci.start(["sumo", "-c", "mi.sumocfg"])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traci.simulation.getMinExpectedNumber() &gt; 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traci.simulationStep()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= traci.vehicle.getIDList()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traci.close()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09728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 err="1">
                <a:solidFill>
                  <a:srgbClr val="4A5568"/>
                </a:solidFill>
              </a:rPr>
              <a:t>Interfaz</a:t>
            </a:r>
            <a:r>
              <a:rPr lang="en-US" sz="1700" dirty="0">
                <a:solidFill>
                  <a:srgbClr val="4A5568"/>
                </a:solidFill>
              </a:rPr>
              <a:t> de control de </a:t>
            </a:r>
            <a:r>
              <a:rPr lang="en-US" sz="1700" dirty="0" err="1">
                <a:solidFill>
                  <a:srgbClr val="4A5568"/>
                </a:solidFill>
              </a:rPr>
              <a:t>tráfico</a:t>
            </a:r>
            <a:endParaRPr lang="en-US" sz="1700" dirty="0">
              <a:solidFill>
                <a:srgbClr val="4A5568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</a:rPr>
              <a:t>Avanza la simulación paso a paso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</a:rPr>
              <a:t>Lee y modifica vehículos, semáforos y rutas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</a:rPr>
              <a:t>Base del aprendizaje por refuerzo (SUMO-RL)</a:t>
            </a:r>
            <a:endParaRPr lang="en-US" sz="17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D4903D-30A0-D97D-B30E-69E6775DC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Resultados</a:t>
            </a:r>
            <a:r>
              <a:rPr lang="en-US" sz="2600" b="1" dirty="0">
                <a:solidFill>
                  <a:srgbClr val="FFFFFF"/>
                </a:solidFill>
              </a:rPr>
              <a:t> de la </a:t>
            </a:r>
            <a:r>
              <a:rPr lang="en-US" sz="2600" b="1" dirty="0" err="1">
                <a:solidFill>
                  <a:srgbClr val="FFFFFF"/>
                </a:solidFill>
              </a:rPr>
              <a:t>simulación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617" y="1750423"/>
            <a:ext cx="3409407" cy="289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411" y="1750423"/>
            <a:ext cx="3399612" cy="849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7994" y="1835331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F3A5F"/>
                </a:solidFill>
              </a:rPr>
              <a:t>Emisiones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9412" y="2566851"/>
            <a:ext cx="3399612" cy="22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solidFill>
                  <a:srgbClr val="4A5568"/>
                </a:solidFill>
              </a:rPr>
              <a:t>Se </a:t>
            </a:r>
            <a:r>
              <a:rPr lang="en-US" sz="1400" dirty="0" err="1">
                <a:solidFill>
                  <a:srgbClr val="4A5568"/>
                </a:solidFill>
              </a:rPr>
              <a:t>obtiene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los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datos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emisones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vehiculos</a:t>
            </a:r>
            <a:r>
              <a:rPr lang="en-US" sz="1400" dirty="0">
                <a:solidFill>
                  <a:srgbClr val="4A5568"/>
                </a:solidFill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CO2 - </a:t>
            </a:r>
            <a:r>
              <a:rPr lang="en-US" sz="1400" dirty="0" err="1">
                <a:solidFill>
                  <a:srgbClr val="4A5568"/>
                </a:solidFill>
              </a:rPr>
              <a:t>dióxido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carbono</a:t>
            </a:r>
            <a:endParaRPr lang="en-US" sz="14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CO - </a:t>
            </a:r>
            <a:r>
              <a:rPr lang="en-US" sz="1400" dirty="0" err="1">
                <a:solidFill>
                  <a:srgbClr val="4A5568"/>
                </a:solidFill>
              </a:rPr>
              <a:t>Monóxido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carbono</a:t>
            </a:r>
            <a:endParaRPr lang="en-US" sz="14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HC - </a:t>
            </a:r>
            <a:r>
              <a:rPr lang="en-US" sz="1400" dirty="0" err="1">
                <a:solidFill>
                  <a:srgbClr val="4A5568"/>
                </a:solidFill>
              </a:rPr>
              <a:t>hidrocarburos</a:t>
            </a:r>
            <a:r>
              <a:rPr lang="en-US" sz="1400" dirty="0">
                <a:solidFill>
                  <a:srgbClr val="4A5568"/>
                </a:solidFill>
              </a:rPr>
              <a:t> no </a:t>
            </a:r>
            <a:r>
              <a:rPr lang="en-US" sz="1400" dirty="0" err="1">
                <a:solidFill>
                  <a:srgbClr val="4A5568"/>
                </a:solidFill>
              </a:rPr>
              <a:t>quemados</a:t>
            </a:r>
            <a:endParaRPr lang="en-US" sz="14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NOx – </a:t>
            </a:r>
            <a:r>
              <a:rPr lang="en-US" sz="1400" dirty="0" err="1">
                <a:solidFill>
                  <a:srgbClr val="4A5568"/>
                </a:solidFill>
              </a:rPr>
              <a:t>Oxido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nitrogeno</a:t>
            </a:r>
            <a:endParaRPr lang="en-US" sz="14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A5568"/>
                </a:solidFill>
              </a:rPr>
              <a:t>PMx</a:t>
            </a:r>
            <a:r>
              <a:rPr lang="en-US" sz="1400" dirty="0">
                <a:solidFill>
                  <a:srgbClr val="4A5568"/>
                </a:solidFill>
              </a:rPr>
              <a:t> – </a:t>
            </a:r>
            <a:r>
              <a:rPr lang="en-US" sz="1400" dirty="0" err="1">
                <a:solidFill>
                  <a:srgbClr val="4A5568"/>
                </a:solidFill>
              </a:rPr>
              <a:t>Particulas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en</a:t>
            </a:r>
            <a:r>
              <a:rPr lang="en-US" sz="1400" dirty="0">
                <a:solidFill>
                  <a:srgbClr val="4A5568"/>
                </a:solidFill>
              </a:rPr>
              <a:t> </a:t>
            </a:r>
            <a:r>
              <a:rPr lang="en-US" sz="1400" dirty="0" err="1">
                <a:solidFill>
                  <a:srgbClr val="4A5568"/>
                </a:solidFill>
              </a:rPr>
              <a:t>suspensión</a:t>
            </a:r>
            <a:endParaRPr lang="en-US" sz="14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A5568"/>
                </a:solidFill>
              </a:rPr>
              <a:t>Consumo</a:t>
            </a:r>
            <a:r>
              <a:rPr lang="en-US" sz="1400" dirty="0">
                <a:solidFill>
                  <a:srgbClr val="4A5568"/>
                </a:solidFill>
              </a:rPr>
              <a:t> de combustible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4A5568"/>
                </a:solidFill>
              </a:rPr>
              <a:t>Consumo</a:t>
            </a:r>
            <a:r>
              <a:rPr lang="en-US" sz="1400" dirty="0">
                <a:solidFill>
                  <a:srgbClr val="4A5568"/>
                </a:solidFill>
              </a:rPr>
              <a:t> de </a:t>
            </a:r>
            <a:r>
              <a:rPr lang="en-US" sz="1400" dirty="0" err="1">
                <a:solidFill>
                  <a:srgbClr val="4A5568"/>
                </a:solidFill>
              </a:rPr>
              <a:t>electricidad</a:t>
            </a:r>
            <a:endParaRPr lang="en-US" sz="1400" dirty="0">
              <a:solidFill>
                <a:srgbClr val="4A5568"/>
              </a:solidFill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4A5568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A8B28FD-E205-DDAC-A95E-F55DC97E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  <p:sp>
        <p:nvSpPr>
          <p:cNvPr id="8" name="Shape 2">
            <a:extLst>
              <a:ext uri="{FF2B5EF4-FFF2-40B4-BE49-F238E27FC236}">
                <a16:creationId xmlns:a16="http://schemas.microsoft.com/office/drawing/2014/main" id="{D0BBCDAB-8C48-C9CF-7F3E-62631DA67BA0}"/>
              </a:ext>
            </a:extLst>
          </p:cNvPr>
          <p:cNvSpPr/>
          <p:nvPr/>
        </p:nvSpPr>
        <p:spPr>
          <a:xfrm>
            <a:off x="4189914" y="1759132"/>
            <a:ext cx="4112309" cy="289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87F439A-BE1E-EAC7-5425-7AD6313DB41C}"/>
              </a:ext>
            </a:extLst>
          </p:cNvPr>
          <p:cNvSpPr/>
          <p:nvPr/>
        </p:nvSpPr>
        <p:spPr>
          <a:xfrm>
            <a:off x="4189914" y="1759132"/>
            <a:ext cx="4112308" cy="849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B846780-A07B-16D4-9135-B5CD50CB15BF}"/>
              </a:ext>
            </a:extLst>
          </p:cNvPr>
          <p:cNvSpPr txBox="1"/>
          <p:nvPr/>
        </p:nvSpPr>
        <p:spPr>
          <a:xfrm>
            <a:off x="4298456" y="1889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F3A5F"/>
                </a:solidFill>
              </a:rPr>
              <a:t>Tráfico</a:t>
            </a:r>
            <a:endParaRPr lang="en-US" sz="18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42A32B2-A6F5-4317-BA1F-C3D578F53C91}"/>
              </a:ext>
            </a:extLst>
          </p:cNvPr>
          <p:cNvSpPr txBox="1"/>
          <p:nvPr/>
        </p:nvSpPr>
        <p:spPr>
          <a:xfrm>
            <a:off x="4298456" y="2577737"/>
            <a:ext cx="3921350" cy="22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200" dirty="0">
                <a:solidFill>
                  <a:srgbClr val="4A5568"/>
                </a:solidFill>
              </a:rPr>
              <a:t>Se </a:t>
            </a:r>
            <a:r>
              <a:rPr lang="en-US" sz="1200" dirty="0" err="1">
                <a:solidFill>
                  <a:srgbClr val="4A5568"/>
                </a:solidFill>
              </a:rPr>
              <a:t>obtiene</a:t>
            </a:r>
            <a:r>
              <a:rPr lang="en-US" sz="1200" dirty="0">
                <a:solidFill>
                  <a:srgbClr val="4A5568"/>
                </a:solidFill>
              </a:rPr>
              <a:t> </a:t>
            </a:r>
            <a:r>
              <a:rPr lang="en-US" sz="1200" dirty="0" err="1">
                <a:solidFill>
                  <a:srgbClr val="4A5568"/>
                </a:solidFill>
              </a:rPr>
              <a:t>los</a:t>
            </a:r>
            <a:r>
              <a:rPr lang="en-US" sz="1200" dirty="0">
                <a:solidFill>
                  <a:srgbClr val="4A5568"/>
                </a:solidFill>
              </a:rPr>
              <a:t> </a:t>
            </a:r>
            <a:r>
              <a:rPr lang="en-US" sz="1200" dirty="0" err="1">
                <a:solidFill>
                  <a:srgbClr val="4A5568"/>
                </a:solidFill>
              </a:rPr>
              <a:t>datos</a:t>
            </a:r>
            <a:r>
              <a:rPr lang="en-US" sz="1200" dirty="0">
                <a:solidFill>
                  <a:srgbClr val="4A5568"/>
                </a:solidFill>
              </a:rPr>
              <a:t> de </a:t>
            </a:r>
            <a:r>
              <a:rPr lang="en-US" sz="1200" dirty="0" err="1">
                <a:solidFill>
                  <a:srgbClr val="4A5568"/>
                </a:solidFill>
              </a:rPr>
              <a:t>tráfico</a:t>
            </a:r>
            <a:r>
              <a:rPr lang="en-US" sz="1200" dirty="0">
                <a:solidFill>
                  <a:srgbClr val="4A5568"/>
                </a:solidFill>
              </a:rPr>
              <a:t> </a:t>
            </a:r>
            <a:r>
              <a:rPr lang="en-US" sz="1200" dirty="0" err="1">
                <a:solidFill>
                  <a:srgbClr val="4A5568"/>
                </a:solidFill>
              </a:rPr>
              <a:t>sobre</a:t>
            </a:r>
            <a:r>
              <a:rPr lang="en-US" sz="1200" dirty="0">
                <a:solidFill>
                  <a:srgbClr val="4A5568"/>
                </a:solidFill>
              </a:rPr>
              <a:t> las vias </a:t>
            </a:r>
            <a:r>
              <a:rPr lang="en-US" sz="1200" dirty="0" err="1">
                <a:solidFill>
                  <a:srgbClr val="4A5568"/>
                </a:solidFill>
              </a:rPr>
              <a:t>cada</a:t>
            </a:r>
            <a:r>
              <a:rPr lang="en-US" sz="1200" dirty="0">
                <a:solidFill>
                  <a:srgbClr val="4A5568"/>
                </a:solidFill>
              </a:rPr>
              <a:t> </a:t>
            </a:r>
            <a:r>
              <a:rPr lang="en-US" sz="1200" dirty="0" err="1">
                <a:solidFill>
                  <a:srgbClr val="4A5568"/>
                </a:solidFill>
              </a:rPr>
              <a:t>momento</a:t>
            </a:r>
            <a:r>
              <a:rPr lang="en-US" sz="1200" dirty="0">
                <a:solidFill>
                  <a:srgbClr val="4A5568"/>
                </a:solidFill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_tradnl" sz="1200" b="0" i="0" dirty="0" err="1">
                <a:solidFill>
                  <a:srgbClr val="495057"/>
                </a:solidFill>
                <a:effectLst/>
                <a:latin typeface="-apple-system"/>
              </a:rPr>
              <a:t>Density</a:t>
            </a:r>
            <a:r>
              <a:rPr lang="es-ES_tradnl" sz="1200" b="0" i="0" dirty="0">
                <a:solidFill>
                  <a:srgbClr val="495057"/>
                </a:solidFill>
                <a:effectLst/>
                <a:latin typeface="-apple-system"/>
              </a:rPr>
              <a:t> </a:t>
            </a:r>
            <a:r>
              <a:rPr lang="en-US" sz="1200" dirty="0">
                <a:solidFill>
                  <a:srgbClr val="4A5568"/>
                </a:solidFill>
              </a:rPr>
              <a:t>- </a:t>
            </a:r>
            <a:r>
              <a:rPr lang="en-US" sz="1200" dirty="0" err="1">
                <a:solidFill>
                  <a:srgbClr val="4A5568"/>
                </a:solidFill>
              </a:rPr>
              <a:t>desidad</a:t>
            </a:r>
            <a:r>
              <a:rPr lang="en-US" sz="1200" dirty="0">
                <a:solidFill>
                  <a:srgbClr val="4A5568"/>
                </a:solidFill>
              </a:rPr>
              <a:t> de </a:t>
            </a:r>
            <a:r>
              <a:rPr lang="en-US" sz="1200" dirty="0" err="1">
                <a:solidFill>
                  <a:srgbClr val="4A5568"/>
                </a:solidFill>
              </a:rPr>
              <a:t>vehiculos</a:t>
            </a:r>
            <a:r>
              <a:rPr lang="en-US" sz="1200" dirty="0">
                <a:solidFill>
                  <a:srgbClr val="4A5568"/>
                </a:solidFill>
              </a:rPr>
              <a:t> </a:t>
            </a:r>
            <a:r>
              <a:rPr lang="en-US" sz="1200" dirty="0" err="1">
                <a:solidFill>
                  <a:srgbClr val="4A5568"/>
                </a:solidFill>
              </a:rPr>
              <a:t>en</a:t>
            </a:r>
            <a:r>
              <a:rPr lang="en-US" sz="1200" dirty="0">
                <a:solidFill>
                  <a:srgbClr val="4A5568"/>
                </a:solidFill>
              </a:rPr>
              <a:t> la via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4A5568"/>
                </a:solidFill>
              </a:rPr>
              <a:t>Ocupacion</a:t>
            </a:r>
            <a:r>
              <a:rPr lang="en-US" sz="1200" dirty="0">
                <a:solidFill>
                  <a:srgbClr val="4A5568"/>
                </a:solidFill>
              </a:rPr>
              <a:t> - </a:t>
            </a:r>
            <a:r>
              <a:rPr lang="en-US" sz="1200" dirty="0" err="1">
                <a:solidFill>
                  <a:srgbClr val="4A5568"/>
                </a:solidFill>
              </a:rPr>
              <a:t>porcentaje</a:t>
            </a:r>
            <a:r>
              <a:rPr lang="en-US" sz="1200" dirty="0">
                <a:solidFill>
                  <a:srgbClr val="4A5568"/>
                </a:solidFill>
              </a:rPr>
              <a:t> de </a:t>
            </a:r>
            <a:r>
              <a:rPr lang="en-US" sz="1200" dirty="0" err="1">
                <a:solidFill>
                  <a:srgbClr val="4A5568"/>
                </a:solidFill>
              </a:rPr>
              <a:t>ocupación</a:t>
            </a:r>
            <a:r>
              <a:rPr lang="en-US" sz="1200" dirty="0">
                <a:solidFill>
                  <a:srgbClr val="4A5568"/>
                </a:solidFill>
              </a:rPr>
              <a:t> de la via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_tradnl" sz="1200" b="0" i="0" dirty="0" err="1">
                <a:solidFill>
                  <a:srgbClr val="495057"/>
                </a:solidFill>
                <a:effectLst/>
                <a:latin typeface="-apple-system"/>
              </a:rPr>
              <a:t>timeLoss</a:t>
            </a:r>
            <a:r>
              <a:rPr lang="en-US" sz="1200" b="0" i="0" dirty="0">
                <a:solidFill>
                  <a:srgbClr val="4A5568"/>
                </a:solidFill>
                <a:effectLst/>
                <a:latin typeface="-apple-system"/>
              </a:rPr>
              <a:t> – </a:t>
            </a:r>
            <a:r>
              <a:rPr lang="en-US" sz="1200" b="0" i="0" dirty="0" err="1">
                <a:solidFill>
                  <a:srgbClr val="4A5568"/>
                </a:solidFill>
                <a:effectLst/>
                <a:latin typeface="-apple-system"/>
              </a:rPr>
              <a:t>tiempo</a:t>
            </a:r>
            <a:r>
              <a:rPr lang="en-US" sz="1200" b="0" i="0" dirty="0">
                <a:solidFill>
                  <a:srgbClr val="4A5568"/>
                </a:solidFill>
                <a:effectLst/>
                <a:latin typeface="-apple-system"/>
              </a:rPr>
              <a:t> </a:t>
            </a:r>
            <a:r>
              <a:rPr lang="en-US" sz="1200" b="0" i="0" dirty="0" err="1">
                <a:solidFill>
                  <a:srgbClr val="4A5568"/>
                </a:solidFill>
                <a:effectLst/>
                <a:latin typeface="-apple-system"/>
              </a:rPr>
              <a:t>perdido</a:t>
            </a:r>
            <a:r>
              <a:rPr lang="en-US" sz="1200" b="0" i="0" dirty="0">
                <a:solidFill>
                  <a:srgbClr val="4A5568"/>
                </a:solidFill>
                <a:effectLst/>
                <a:latin typeface="-apple-system"/>
              </a:rPr>
              <a:t> </a:t>
            </a:r>
            <a:r>
              <a:rPr lang="en-US" sz="1200" b="0" i="0" dirty="0" err="1">
                <a:solidFill>
                  <a:srgbClr val="4A5568"/>
                </a:solidFill>
                <a:effectLst/>
                <a:latin typeface="-apple-system"/>
              </a:rPr>
              <a:t>por</a:t>
            </a:r>
            <a:r>
              <a:rPr lang="en-US" sz="1200" b="0" i="0" dirty="0">
                <a:solidFill>
                  <a:srgbClr val="4A5568"/>
                </a:solidFill>
                <a:effectLst/>
                <a:latin typeface="-apple-system"/>
              </a:rPr>
              <a:t> </a:t>
            </a:r>
            <a:r>
              <a:rPr lang="en-US" sz="1200" b="0" i="0" dirty="0" err="1">
                <a:solidFill>
                  <a:srgbClr val="4A5568"/>
                </a:solidFill>
                <a:effectLst/>
                <a:latin typeface="-apple-system"/>
              </a:rPr>
              <a:t>conducir</a:t>
            </a:r>
            <a:r>
              <a:rPr lang="en-US" sz="1200" b="0" i="0" dirty="0">
                <a:solidFill>
                  <a:srgbClr val="4A5568"/>
                </a:solidFill>
                <a:effectLst/>
                <a:latin typeface="-apple-system"/>
              </a:rPr>
              <a:t> mas </a:t>
            </a:r>
            <a:r>
              <a:rPr lang="en-US" sz="1200" b="0" i="0" dirty="0" err="1">
                <a:solidFill>
                  <a:srgbClr val="4A5568"/>
                </a:solidFill>
                <a:effectLst/>
                <a:latin typeface="-apple-system"/>
              </a:rPr>
              <a:t>despacio</a:t>
            </a:r>
            <a:endParaRPr lang="en-US" sz="1200" b="0" i="0" dirty="0">
              <a:solidFill>
                <a:srgbClr val="4A5568"/>
              </a:solidFill>
              <a:effectLst/>
              <a:latin typeface="-apple-system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_tradnl" sz="1200" b="0" i="0" dirty="0" err="1">
                <a:solidFill>
                  <a:srgbClr val="495057"/>
                </a:solidFill>
                <a:effectLst/>
                <a:latin typeface="-apple-system"/>
              </a:rPr>
              <a:t>waitingTime</a:t>
            </a:r>
            <a:r>
              <a:rPr lang="en-US" sz="1200" dirty="0">
                <a:solidFill>
                  <a:srgbClr val="4A5568"/>
                </a:solidFill>
                <a:latin typeface="-apple-system"/>
              </a:rPr>
              <a:t> – </a:t>
            </a:r>
            <a:r>
              <a:rPr lang="en-US" sz="1200" dirty="0" err="1">
                <a:solidFill>
                  <a:srgbClr val="4A5568"/>
                </a:solidFill>
                <a:latin typeface="-apple-system"/>
              </a:rPr>
              <a:t>tiempo</a:t>
            </a:r>
            <a:r>
              <a:rPr lang="en-US" sz="1200" dirty="0">
                <a:solidFill>
                  <a:srgbClr val="4A5568"/>
                </a:solidFill>
                <a:latin typeface="-apple-system"/>
              </a:rPr>
              <a:t> de </a:t>
            </a:r>
            <a:r>
              <a:rPr lang="en-US" sz="1200" dirty="0" err="1">
                <a:solidFill>
                  <a:srgbClr val="4A5568"/>
                </a:solidFill>
                <a:latin typeface="-apple-system"/>
              </a:rPr>
              <a:t>vehiculo</a:t>
            </a:r>
            <a:r>
              <a:rPr lang="en-US" sz="1200" dirty="0">
                <a:solidFill>
                  <a:srgbClr val="4A5568"/>
                </a:solidFill>
                <a:latin typeface="-apple-system"/>
              </a:rPr>
              <a:t> parados</a:t>
            </a:r>
            <a:endParaRPr lang="en-US" sz="12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A5568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A5568"/>
              </a:solidFill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4A5568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863701A-08D4-2AFE-96A8-3697D8D709FD}"/>
              </a:ext>
            </a:extLst>
          </p:cNvPr>
          <p:cNvSpPr txBox="1"/>
          <p:nvPr/>
        </p:nvSpPr>
        <p:spPr>
          <a:xfrm>
            <a:off x="457200" y="927548"/>
            <a:ext cx="72384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rgbClr val="4A5568"/>
                </a:solidFill>
              </a:rPr>
              <a:t>Todos estos resultado se pueden agrupar por tiempo de simulación,</a:t>
            </a:r>
            <a:br>
              <a:rPr lang="es-ES" sz="2000" dirty="0">
                <a:solidFill>
                  <a:srgbClr val="4A5568"/>
                </a:solidFill>
              </a:rPr>
            </a:br>
            <a:r>
              <a:rPr lang="es-ES" sz="2000" dirty="0">
                <a:solidFill>
                  <a:srgbClr val="4A5568"/>
                </a:solidFill>
              </a:rPr>
              <a:t>por ejemplo, por cada 60s de simulación en cada </a:t>
            </a:r>
            <a:r>
              <a:rPr lang="es-ES" sz="2000" dirty="0" err="1">
                <a:solidFill>
                  <a:srgbClr val="4A5568"/>
                </a:solidFill>
              </a:rPr>
              <a:t>via</a:t>
            </a:r>
            <a:endParaRPr lang="es-ES_tradnl" sz="2000" dirty="0">
              <a:solidFill>
                <a:srgbClr val="4A55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505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Resumen y recursos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SUMO es un simulador microscópico, multimodal y abierto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Flujo: red → demanda → configuración → simulación → análisis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TraCI abre la puerta a control en tiempo real e IA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Documentación y tutoriales: sumo.dlr.de/docs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A5568"/>
                </a:solidFill>
              </a:rPr>
              <a:t>¿Preguntas?</a:t>
            </a:r>
            <a:endParaRPr lang="en-U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8021F2-ADF7-3D74-A2E0-20C6A35BE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40" y="42972"/>
            <a:ext cx="681760" cy="737015"/>
          </a:xfrm>
          <a:prstGeom prst="rect">
            <a:avLst/>
          </a:prstGeom>
          <a:solidFill>
            <a:srgbClr val="F4F7FA"/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1192</Words>
  <Application>Microsoft Office PowerPoint</Application>
  <PresentationFormat>Presentación en pantalla (16:9)</PresentationFormat>
  <Paragraphs>164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Consolas</vt:lpstr>
      <vt:lpstr>SFMono-Regular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SUMO</dc:title>
  <dc:subject>PptxGenJS Presentation</dc:subject>
  <dc:creator>PptxGenJS</dc:creator>
  <cp:lastModifiedBy>Pedro Maria Esparza Apezteguia</cp:lastModifiedBy>
  <cp:revision>107</cp:revision>
  <dcterms:created xsi:type="dcterms:W3CDTF">2026-10-25T21:52:03Z</dcterms:created>
  <dcterms:modified xsi:type="dcterms:W3CDTF">2026-10-29T12:54:22Z</dcterms:modified>
</cp:coreProperties>
</file>